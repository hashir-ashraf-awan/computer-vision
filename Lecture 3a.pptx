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2" r:id="rId7"/>
    <p:sldId id="267" r:id="rId8"/>
    <p:sldId id="270" r:id="rId9"/>
    <p:sldId id="271" r:id="rId10"/>
    <p:sldId id="272" r:id="rId11"/>
    <p:sldId id="342" r:id="rId12"/>
    <p:sldId id="315" r:id="rId13"/>
    <p:sldId id="316" r:id="rId14"/>
    <p:sldId id="317" r:id="rId15"/>
    <p:sldId id="318" r:id="rId16"/>
    <p:sldId id="453" r:id="rId17"/>
    <p:sldId id="454" r:id="rId18"/>
    <p:sldId id="455" r:id="rId19"/>
    <p:sldId id="319" r:id="rId20"/>
    <p:sldId id="322" r:id="rId21"/>
    <p:sldId id="323" r:id="rId22"/>
    <p:sldId id="326" r:id="rId23"/>
    <p:sldId id="327" r:id="rId24"/>
    <p:sldId id="328" r:id="rId25"/>
    <p:sldId id="329" r:id="rId26"/>
    <p:sldId id="330" r:id="rId27"/>
    <p:sldId id="339" r:id="rId28"/>
    <p:sldId id="340" r:id="rId29"/>
    <p:sldId id="341" r:id="rId3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6E9E7D-1035-4243-9435-3D4F5BCFB2EC}">
          <p14:sldIdLst>
            <p14:sldId id="256"/>
            <p14:sldId id="258"/>
          </p14:sldIdLst>
        </p14:section>
        <p14:section name="Spatial Filtering" id="{F16C4831-BA87-4D8D-BBA9-9FD89BCDB77D}">
          <p14:sldIdLst>
            <p14:sldId id="259"/>
            <p14:sldId id="262"/>
            <p14:sldId id="267"/>
            <p14:sldId id="270"/>
            <p14:sldId id="271"/>
            <p14:sldId id="272"/>
            <p14:sldId id="342"/>
            <p14:sldId id="315"/>
            <p14:sldId id="316"/>
            <p14:sldId id="317"/>
            <p14:sldId id="318"/>
            <p14:sldId id="453"/>
            <p14:sldId id="454"/>
            <p14:sldId id="455"/>
            <p14:sldId id="319"/>
            <p14:sldId id="322"/>
            <p14:sldId id="323"/>
            <p14:sldId id="326"/>
            <p14:sldId id="327"/>
            <p14:sldId id="328"/>
            <p14:sldId id="329"/>
            <p14:sldId id="330"/>
            <p14:sldId id="339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800000"/>
    <a:srgbClr val="E6FB6B"/>
    <a:srgbClr val="663300"/>
    <a:srgbClr val="000066"/>
    <a:srgbClr val="0033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2" autoAdjust="0"/>
    <p:restoredTop sz="93638" autoAdjust="0"/>
  </p:normalViewPr>
  <p:slideViewPr>
    <p:cSldViewPr showGuides="1">
      <p:cViewPr varScale="1">
        <p:scale>
          <a:sx n="78" d="100"/>
          <a:sy n="78" d="100"/>
        </p:scale>
        <p:origin x="150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5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>
              <a:defRPr sz="1300"/>
            </a:lvl1pPr>
          </a:lstStyle>
          <a:p>
            <a:pPr>
              <a:defRPr/>
            </a:pPr>
            <a:fld id="{AFF8DE88-C318-462F-983F-A0090CF55578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2694D1-597F-4610-912E-CD2B53554420}" type="slidenum">
              <a:rPr lang="en-US" smtClean="0"/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25"/>
          <p:cNvGrpSpPr/>
          <p:nvPr/>
        </p:nvGrpSpPr>
        <p:grpSpPr bwMode="auto">
          <a:xfrm>
            <a:off x="0" y="68263"/>
            <a:ext cx="8678863" cy="6713537"/>
            <a:chOff x="0" y="43"/>
            <a:chExt cx="5467" cy="4229"/>
          </a:xfrm>
        </p:grpSpPr>
        <p:sp>
          <p:nvSpPr>
            <p:cNvPr id="5" name="Rectangle 217"/>
            <p:cNvSpPr>
              <a:spLocks noChangeArrowheads="1"/>
            </p:cNvSpPr>
            <p:nvPr userDrawn="1"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 sz="2400"/>
            </a:p>
          </p:txBody>
        </p:sp>
        <p:grpSp>
          <p:nvGrpSpPr>
            <p:cNvPr id="6" name="Group 324"/>
            <p:cNvGrpSpPr/>
            <p:nvPr userDrawn="1"/>
          </p:nvGrpSpPr>
          <p:grpSpPr bwMode="auto"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7" name="Line 224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" name="Line 225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" name="Line 226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" name="Line 227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" name="Line 228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" name="Line 229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3" name="Line 230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4" name="Line 231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5" name="Line 232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6" name="Line 233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7" name="Line 234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8" name="Line 235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9" name="Line 236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0" name="Line 237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1" name="Line 238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2" name="Line 239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3" name="Line 240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4" name="Line 241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5" name="Line 242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6" name="Line 243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7" name="Line 244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8" name="Line 245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29" name="Line 246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0" name="Line 247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1" name="Line 248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2" name="Line 249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3" name="Line 250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4" name="Line 251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5" name="Line 252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6" name="Line 253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7" name="Line 254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8" name="Line 255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39" name="Line 256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0" name="Line 257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1" name="Line 258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2" name="Line 259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3" name="Line 260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4" name="Line 261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5" name="Line 262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6" name="Line 263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7" name="Line 264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8" name="Line 265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49" name="Line 266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0" name="Line 267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1" name="Line 268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2" name="Line 269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3" name="Line 270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4" name="Line 271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5" name="Line 272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6" name="Line 273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7" name="Line 274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8" name="Line 275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59" name="Line 276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0" name="Line 277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1" name="Line 278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2" name="Line 279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3" name="Line 280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4" name="Line 281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5" name="Line 282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6" name="Line 283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7" name="Line 284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8" name="Line 285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69" name="Line 286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0" name="Line 287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1" name="Line 288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2" name="Line 289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3" name="Line 290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4" name="Line 291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5" name="Line 292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6" name="Line 293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7" name="Line 294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8" name="Line 295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79" name="Line 296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0" name="Line 297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1" name="Line 298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2" name="Line 299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3" name="Line 300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4" name="Line 301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5" name="Line 302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6" name="Line 303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7" name="Line 304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8" name="Line 305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89" name="Line 306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0" name="Line 307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1" name="Line 308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2" name="Line 309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3" name="Line 310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4" name="Line 311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5" name="Line 312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6" name="Line 313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7" name="Line 314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8" name="Line 315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99" name="Line 316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0" name="Line 317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1" name="Line 318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2" name="Line 319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3" name="Line 320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04" name="Line 321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</p:grpSp>
      </p:grpSp>
      <p:sp>
        <p:nvSpPr>
          <p:cNvPr id="105" name="Rectangle 220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fr-FR" sz="2400"/>
          </a:p>
        </p:txBody>
      </p:sp>
      <p:sp>
        <p:nvSpPr>
          <p:cNvPr id="106" name="Rectangle 21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fr-FR" sz="2400"/>
          </a:p>
        </p:txBody>
      </p:sp>
      <p:sp>
        <p:nvSpPr>
          <p:cNvPr id="108" name="Line 112"/>
          <p:cNvSpPr>
            <a:spLocks noChangeShapeType="1"/>
          </p:cNvSpPr>
          <p:nvPr userDrawn="1"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3175" name="Rectangle 103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93" name="Rectangle 221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9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D8595-F6A7-402C-8694-6881CA8AD368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 autoUpdateAnimBg="0"/>
      <p:bldP spid="106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704F1-D9CC-4EC6-B7DC-C8B8EFF9292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1A62E-E0C2-4738-AB09-61CDB23BE82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09625" y="2214563"/>
            <a:ext cx="3902075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864100" y="2214563"/>
            <a:ext cx="3903663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F042A-26C7-4D6A-A296-D02D077815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67FAC-F3D6-4B15-9C54-54A4283C9D9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853703-37A8-4CD2-913B-673657AA1C9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6E629-3E9D-4314-9EF5-5DD7E914863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B8461-36ED-4ABF-B179-B9DFD6A1C55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FCDA5-0C00-45CF-9033-1FC9F5E08D6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E03AF-A653-421F-BF12-BC18C4DC580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09625" y="609600"/>
            <a:ext cx="58166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C68AA-8272-4A0D-95C1-8501D562469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1625" y="1600200"/>
            <a:ext cx="8540750" cy="44989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00C76-F67F-4075-B250-39D33D0A7C85}" type="datetime1">
              <a:rPr lang="en-US"/>
            </a:fld>
            <a:endParaRPr lang="en-US"/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1D26F7-E8F7-41D2-8227-9120BA00CF6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25"/>
          <p:cNvGrpSpPr/>
          <p:nvPr/>
        </p:nvGrpSpPr>
        <p:grpSpPr bwMode="auto">
          <a:xfrm>
            <a:off x="-304800" y="-228600"/>
            <a:ext cx="8915400" cy="6713538"/>
            <a:chOff x="0" y="43"/>
            <a:chExt cx="5616" cy="4229"/>
          </a:xfrm>
        </p:grpSpPr>
        <p:grpSp>
          <p:nvGrpSpPr>
            <p:cNvPr id="16393" name="Group 222"/>
            <p:cNvGrpSpPr/>
            <p:nvPr userDrawn="1"/>
          </p:nvGrpSpPr>
          <p:grpSpPr bwMode="auto"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1146" name="Line 122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7" name="Line 123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8" name="Line 124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9" name="Line 125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0" name="Line 126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1" name="Line 127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2" name="Line 128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3" name="Line 129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4" name="Line 130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5" name="Line 131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6" name="Line 132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7" name="Line 133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8" name="Line 134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59" name="Line 135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0" name="Line 136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1" name="Line 137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2" name="Line 138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3" name="Line 139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4" name="Line 140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5" name="Line 141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6" name="Line 142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7" name="Line 143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8" name="Line 144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69" name="Line 145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0" name="Line 146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1" name="Line 147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2" name="Line 148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3" name="Line 149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4" name="Line 150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5" name="Line 151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6" name="Line 152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7" name="Line 153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8" name="Line 154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79" name="Line 155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0" name="Line 156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1" name="Line 157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2" name="Line 158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3" name="Line 159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4" name="Line 160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5" name="Line 161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6" name="Line 162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7" name="Line 163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8" name="Line 164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89" name="Line 165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0" name="Line 166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1" name="Line 167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2" name="Line 168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3" name="Line 169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4" name="Line 170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5" name="Line 171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6" name="Line 172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7" name="Line 173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8" name="Line 174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99" name="Line 175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0" name="Line 176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1" name="Line 177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2" name="Line 178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3" name="Line 179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4" name="Line 180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5" name="Line 181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6" name="Line 182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7" name="Line 183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8" name="Line 184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09" name="Line 185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0" name="Line 186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1" name="Line 187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2" name="Line 188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3" name="Line 189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4" name="Line 190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5" name="Line 191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6" name="Line 192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7" name="Line 193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8" name="Line 194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19" name="Line 195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0" name="Line 196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1" name="Line 197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2" name="Line 198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3" name="Line 199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4" name="Line 200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5" name="Line 201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6" name="Line 202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7" name="Line 203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8" name="Line 204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29" name="Line 205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0" name="Line 206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1" name="Line 207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2" name="Line 208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3" name="Line 209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4" name="Line 210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5" name="Line 211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6" name="Line 212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7" name="Line 213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8" name="Line 214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39" name="Line 215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0" name="Line 216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1" name="Line 217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2" name="Line 218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243" name="Line 219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</p:grpSp>
        <p:grpSp>
          <p:nvGrpSpPr>
            <p:cNvPr id="16394" name="Group 224"/>
            <p:cNvGrpSpPr/>
            <p:nvPr userDrawn="1"/>
          </p:nvGrpSpPr>
          <p:grpSpPr bwMode="auto"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1140" name="Rectangle 116"/>
              <p:cNvSpPr>
                <a:spLocks noChangeArrowheads="1"/>
              </p:cNvSpPr>
              <p:nvPr userDrawn="1"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36" name="Rectangle 112"/>
              <p:cNvSpPr>
                <a:spLocks noChangeArrowheads="1"/>
              </p:cNvSpPr>
              <p:nvPr userDrawn="1"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41" name="Rectangle 117"/>
              <p:cNvSpPr>
                <a:spLocks noChangeArrowheads="1"/>
              </p:cNvSpPr>
              <p:nvPr userDrawn="1"/>
            </p:nvSpPr>
            <p:spPr bwMode="auto">
              <a:xfrm>
                <a:off x="4599" y="1115"/>
                <a:ext cx="929" cy="21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  <p:sp>
            <p:nvSpPr>
              <p:cNvPr id="1137" name="Rectangle 113"/>
              <p:cNvSpPr>
                <a:spLocks noChangeArrowheads="1"/>
              </p:cNvSpPr>
              <p:nvPr userDrawn="1"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2400"/>
              </a:p>
            </p:txBody>
          </p:sp>
        </p:grpSp>
      </p:grp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2214563"/>
            <a:ext cx="7958138" cy="3881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609600"/>
            <a:ext cx="73787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7" name="Rectangle 10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64300" y="6361113"/>
            <a:ext cx="1906588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A7A065F0-89C4-4AE3-9266-3077E41B005E}" type="slidenum">
              <a:rPr lang="en-US"/>
            </a:fld>
            <a:endParaRPr lang="en-US"/>
          </a:p>
        </p:txBody>
      </p:sp>
      <p:sp>
        <p:nvSpPr>
          <p:cNvPr id="2162" name="Line 114"/>
          <p:cNvSpPr>
            <a:spLocks noChangeShapeType="1"/>
          </p:cNvSpPr>
          <p:nvPr userDrawn="1"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2.vml"/><Relationship Id="rId1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en.wikipedia.org/wiki/Cross-correlation" TargetMode="External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GIF"/><Relationship Id="rId2" Type="http://schemas.openxmlformats.org/officeDocument/2006/relationships/hyperlink" Target="https://en.wikipedia.org/wiki/Convolution" TargetMode="External"/><Relationship Id="rId1" Type="http://schemas.openxmlformats.org/officeDocument/2006/relationships/image" Target="../media/image2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GIF"/><Relationship Id="rId1" Type="http://schemas.openxmlformats.org/officeDocument/2006/relationships/hyperlink" Target="https://en.wikipedia.org/wiki/Convolutio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2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39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1230313" y="762000"/>
            <a:ext cx="7380287" cy="160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altLang="zh-CN" sz="4000" dirty="0">
                <a:solidFill>
                  <a:srgbClr val="003366"/>
                </a:solidFill>
                <a:ea typeface="SimSun" panose="02010600030101010101" pitchFamily="2" charset="-122"/>
              </a:rPr>
              <a:t>Computer Vision</a:t>
            </a:r>
            <a:endParaRPr lang="en-US" altLang="zh-CN" sz="3600" dirty="0">
              <a:solidFill>
                <a:srgbClr val="003366"/>
              </a:solidFill>
              <a:ea typeface="SimSun" panose="02010600030101010101" pitchFamily="2" charset="-122"/>
            </a:endParaRPr>
          </a:p>
        </p:txBody>
      </p:sp>
      <p:sp>
        <p:nvSpPr>
          <p:cNvPr id="18436" name="Rectangle 13"/>
          <p:cNvSpPr>
            <a:spLocks noChangeArrowheads="1"/>
          </p:cNvSpPr>
          <p:nvPr/>
        </p:nvSpPr>
        <p:spPr bwMode="auto">
          <a:xfrm>
            <a:off x="685800" y="3049588"/>
            <a:ext cx="7696200" cy="2894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sz="2400" b="1" dirty="0"/>
              <a:t>Lecture # 2: Filtering</a:t>
            </a:r>
            <a:endParaRPr lang="en-US" sz="1400" dirty="0"/>
          </a:p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sz="1800" b="1" dirty="0"/>
              <a:t>Dr. Shahid Ismail</a:t>
            </a: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3D8595-F6A7-402C-8694-6881CA8AD36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F4B3C9-7522-40F6-A1D6-78DEF4E1874E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7DB7D9-D4E9-4B18-AF42-66947BD3D641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365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Spatial Domain vs. Transform Domain</a:t>
            </a:r>
            <a:endParaRPr lang="en-US" sz="3200"/>
          </a:p>
        </p:txBody>
      </p:sp>
      <p:sp>
        <p:nvSpPr>
          <p:cNvPr id="410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ffectLst/>
              </a:rPr>
              <a:t>Spatial domain</a:t>
            </a:r>
            <a:endParaRPr lang="en-US" altLang="en-US" sz="2800">
              <a:effectLst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effectLst/>
              </a:rPr>
              <a:t>   </a:t>
            </a:r>
            <a:r>
              <a:rPr lang="en-US" altLang="en-US" sz="2400">
                <a:effectLst/>
              </a:rPr>
              <a:t>image plane itself, directly process the intensity values of the image plane</a:t>
            </a:r>
            <a:r>
              <a:rPr lang="en-US" altLang="en-US" sz="2800">
                <a:effectLst/>
              </a:rPr>
              <a:t> </a:t>
            </a:r>
            <a:endParaRPr lang="en-US" altLang="en-US" sz="2800">
              <a:effectLst/>
            </a:endParaRPr>
          </a:p>
          <a:p>
            <a:pPr eaLnBrk="1" hangingPunct="1"/>
            <a:endParaRPr lang="en-US" altLang="en-US" sz="2800">
              <a:effectLst/>
            </a:endParaRPr>
          </a:p>
          <a:p>
            <a:pPr eaLnBrk="1" hangingPunct="1"/>
            <a:r>
              <a:rPr lang="en-US" altLang="en-US" sz="2800">
                <a:effectLst/>
              </a:rPr>
              <a:t>Transform domain</a:t>
            </a:r>
            <a:endParaRPr lang="en-US" altLang="en-US" sz="2800">
              <a:effectLst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effectLst/>
              </a:rPr>
              <a:t>   </a:t>
            </a:r>
            <a:r>
              <a:rPr lang="en-US" altLang="en-US" sz="2400">
                <a:effectLst/>
              </a:rPr>
              <a:t>process the transform coefficients, not directly process the intensity values of the image plane</a:t>
            </a:r>
            <a:endParaRPr lang="en-US" altLang="en-US" sz="240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DE83F0-5DE6-47EB-B5D0-A07BA5760D69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C3220A-DAE0-4B82-B06C-6F8A3E4AA2BA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375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Spatial Domain Process</a:t>
            </a:r>
            <a:endParaRPr lang="en-US" sz="3200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760822" y="4660741"/>
          <a:ext cx="3390900" cy="182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082800" imgH="1117600" progId="Equation.DSMT4">
                  <p:embed/>
                </p:oleObj>
              </mc:Choice>
              <mc:Fallback>
                <p:oleObj name="Equation" r:id="rId1" imgW="2082800" imgH="1117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22" y="4660741"/>
                        <a:ext cx="3390900" cy="1822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157" y="1752600"/>
            <a:ext cx="3964245" cy="349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436" y="2492424"/>
            <a:ext cx="1222702" cy="2012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AFDB2B-EC69-4032-921E-F000D2F4BD17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7FA2C4-B778-4230-8A84-E9DC2CBCB27C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406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Some Basic Intensity Transformation Functions</a:t>
            </a:r>
            <a:endParaRPr lang="en-US" sz="3200"/>
          </a:p>
        </p:txBody>
      </p:sp>
      <p:pic>
        <p:nvPicPr>
          <p:cNvPr id="819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20" y="1828800"/>
            <a:ext cx="4989512" cy="467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78025"/>
            <a:ext cx="2055812" cy="200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6627813" y="3981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5562600" y="4099137"/>
          <a:ext cx="3470275" cy="729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2057400" imgH="431800" progId="Equation.DSMT4">
                  <p:embed/>
                </p:oleObj>
              </mc:Choice>
              <mc:Fallback>
                <p:oleObj name="Equation" r:id="rId3" imgW="20574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099137"/>
                        <a:ext cx="3470275" cy="729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5592072" y="4748335"/>
          <a:ext cx="1803399" cy="712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028065" imgH="406400" progId="Equation.DSMT4">
                  <p:embed/>
                </p:oleObj>
              </mc:Choice>
              <mc:Fallback>
                <p:oleObj name="Equation" r:id="rId5" imgW="1028065" imgH="40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072" y="4748335"/>
                        <a:ext cx="1803399" cy="712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7" name="Object 5"/>
          <p:cNvGraphicFramePr>
            <a:graphicFrameLocks noChangeAspect="1"/>
          </p:cNvGraphicFramePr>
          <p:nvPr/>
        </p:nvGraphicFramePr>
        <p:xfrm>
          <a:off x="5562600" y="5659696"/>
          <a:ext cx="2289175" cy="741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333500" imgH="431800" progId="Equation.DSMT4">
                  <p:embed/>
                </p:oleObj>
              </mc:Choice>
              <mc:Fallback>
                <p:oleObj name="Equation" r:id="rId7" imgW="13335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659696"/>
                        <a:ext cx="2289175" cy="741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ghtning Bolt 5"/>
          <p:cNvSpPr/>
          <p:nvPr/>
        </p:nvSpPr>
        <p:spPr bwMode="auto">
          <a:xfrm>
            <a:off x="7851775" y="5715000"/>
            <a:ext cx="376237" cy="326175"/>
          </a:xfrm>
          <a:prstGeom prst="lightningBol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0BF6E4-871F-45A5-AC98-E77A9DB433E8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A135EE-81E1-4AF6-AF52-2937A69E4949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46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Power-Law (Gamma) Transformations</a:t>
            </a:r>
            <a:endParaRPr lang="en-US" sz="3200"/>
          </a:p>
        </p:txBody>
      </p:sp>
      <p:graphicFrame>
        <p:nvGraphicFramePr>
          <p:cNvPr id="246789" name="Object 5"/>
          <p:cNvGraphicFramePr>
            <a:graphicFrameLocks noChangeAspect="1"/>
          </p:cNvGraphicFramePr>
          <p:nvPr/>
        </p:nvGraphicFramePr>
        <p:xfrm>
          <a:off x="6500813" y="1739900"/>
          <a:ext cx="208756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57200" imgH="203200" progId="Equation.DSMT4">
                  <p:embed/>
                </p:oleObj>
              </mc:Choice>
              <mc:Fallback>
                <p:oleObj name="Equation" r:id="rId1" imgW="4572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1739900"/>
                        <a:ext cx="208756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33550"/>
            <a:ext cx="5132387" cy="47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775" y="3079750"/>
            <a:ext cx="2393950" cy="300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74FCF1-AC10-44C1-89D2-D6C8C4E70F89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29C3D8-EF75-4C04-BE24-66E0951B90EE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508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Example: Gamma Transformations</a:t>
            </a:r>
            <a:endParaRPr lang="en-US" sz="3200"/>
          </a:p>
        </p:txBody>
      </p:sp>
      <p:pic>
        <p:nvPicPr>
          <p:cNvPr id="16390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418" y="2059314"/>
            <a:ext cx="3419089" cy="444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962150"/>
            <a:ext cx="1338232" cy="453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0890" name="Oval 10"/>
          <p:cNvSpPr>
            <a:spLocks noChangeArrowheads="1"/>
          </p:cNvSpPr>
          <p:nvPr/>
        </p:nvSpPr>
        <p:spPr bwMode="auto">
          <a:xfrm>
            <a:off x="2107631" y="2070420"/>
            <a:ext cx="914400" cy="91440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50891" name="Oval 11"/>
          <p:cNvSpPr>
            <a:spLocks noChangeArrowheads="1"/>
          </p:cNvSpPr>
          <p:nvPr/>
        </p:nvSpPr>
        <p:spPr bwMode="auto">
          <a:xfrm>
            <a:off x="3920468" y="2070420"/>
            <a:ext cx="914400" cy="91440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50892" name="Oval 12"/>
          <p:cNvSpPr>
            <a:spLocks noChangeArrowheads="1"/>
          </p:cNvSpPr>
          <p:nvPr/>
        </p:nvSpPr>
        <p:spPr bwMode="auto">
          <a:xfrm>
            <a:off x="2050007" y="4284281"/>
            <a:ext cx="914400" cy="91440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50893" name="Oval 13"/>
          <p:cNvSpPr>
            <a:spLocks noChangeArrowheads="1"/>
          </p:cNvSpPr>
          <p:nvPr/>
        </p:nvSpPr>
        <p:spPr bwMode="auto">
          <a:xfrm>
            <a:off x="4013200" y="4284281"/>
            <a:ext cx="914400" cy="91440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90" grpId="0" animBg="1"/>
      <p:bldP spid="250891" grpId="0" animBg="1"/>
      <p:bldP spid="250892" grpId="0" animBg="1"/>
      <p:bldP spid="25089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7F5B0D-5F1D-460A-9B8A-17D8DD3C14DB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78359C-3629-4EB8-A776-EB7CD096C0B6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519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Example: Gamma Transformations</a:t>
            </a:r>
            <a:endParaRPr lang="en-US" sz="3200"/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752600"/>
            <a:ext cx="4775200" cy="4749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641" y="2128837"/>
            <a:ext cx="1897063" cy="398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64E7E1-CF3B-44E7-BBD2-CD3CFAC7A462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57148C-C51D-4D5A-BD96-6C8B12AD3956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529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dirty="0"/>
              <a:t>Piecewise-Linear Transformations</a:t>
            </a:r>
            <a:endParaRPr lang="en-US" sz="3200" dirty="0"/>
          </a:p>
        </p:txBody>
      </p:sp>
      <p:sp>
        <p:nvSpPr>
          <p:cNvPr id="18437" name="Rectangle 6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 dirty="0"/>
              <a:t>Intensity-level Slicing</a:t>
            </a:r>
            <a:endParaRPr lang="en-US" altLang="en-US" sz="36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3600" dirty="0"/>
              <a:t>   </a:t>
            </a:r>
            <a:r>
              <a:rPr lang="en-US" altLang="en-US" sz="2800" dirty="0">
                <a:cs typeface="Tahoma" panose="020B0604030504040204" pitchFamily="34" charset="0"/>
              </a:rPr>
              <a:t>— </a:t>
            </a:r>
            <a:r>
              <a:rPr lang="en-US" altLang="en-US" sz="2800" dirty="0"/>
              <a:t>Highlighting a specific range of intensities in an image often is of interest.</a:t>
            </a:r>
            <a:endParaRPr lang="en-US" altLang="en-US" sz="28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800" dirty="0">
              <a:effectLst/>
            </a:endParaRPr>
          </a:p>
          <a:p>
            <a:pPr eaLnBrk="1" hangingPunct="1"/>
            <a:r>
              <a:rPr lang="en-US" altLang="en-US" sz="2800" dirty="0">
                <a:effectLst/>
              </a:rPr>
              <a:t>Contrast Stretching</a:t>
            </a:r>
            <a:endParaRPr lang="en-US" altLang="en-US" sz="2800" dirty="0">
              <a:effectLst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dirty="0">
                <a:effectLst/>
              </a:rPr>
              <a:t>     </a:t>
            </a:r>
            <a:r>
              <a:rPr lang="en-US" altLang="en-US" sz="2000" dirty="0">
                <a:effectLst/>
                <a:cs typeface="Tahoma" panose="020B0604030504040204" pitchFamily="34" charset="0"/>
              </a:rPr>
              <a:t>— </a:t>
            </a:r>
            <a:r>
              <a:rPr lang="en-US" altLang="en-US" sz="2000" dirty="0">
                <a:effectLst/>
              </a:rPr>
              <a:t>Expands the range of intensity levels in an image so that it spans the full intensity range of the recording medium or display device.</a:t>
            </a:r>
            <a:endParaRPr lang="en-US" altLang="en-US" sz="2000" dirty="0">
              <a:effectLst/>
            </a:endParaRPr>
          </a:p>
          <a:p>
            <a:pPr eaLnBrk="1" hangingPunct="1"/>
            <a:endParaRPr lang="en-US" altLang="en-US" sz="2000" dirty="0">
              <a:effectLst/>
            </a:endParaRPr>
          </a:p>
          <a:p>
            <a:pPr eaLnBrk="1" hangingPunct="1"/>
            <a:endParaRPr lang="en-US" altLang="en-US" sz="2000" dirty="0">
              <a:effectLst/>
            </a:endParaRPr>
          </a:p>
          <a:p>
            <a:pPr eaLnBrk="1" hangingPunct="1"/>
            <a:endParaRPr lang="en-US" altLang="en-US" sz="2800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5C1A84-7BD2-4414-A247-FDEBFE0B6B22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6DBC5A-58F5-4072-A82D-561AC8362940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38200" y="1981199"/>
            <a:ext cx="6248400" cy="4264025"/>
            <a:chOff x="0" y="25400"/>
            <a:chExt cx="8302625" cy="6851650"/>
          </a:xfrm>
        </p:grpSpPr>
        <p:pic>
          <p:nvPicPr>
            <p:cNvPr id="20484" name="Picture 4"/>
            <p:cNvPicPr>
              <a:picLocks noGrp="1" noChangeAspect="1" noChangeArrowheads="1"/>
            </p:cNvPicPr>
            <p:nvPr>
              <p:ph type="body" idx="1"/>
            </p:nvPr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19150" y="25400"/>
              <a:ext cx="7172325" cy="2457450"/>
            </a:xfrm>
            <a:noFill/>
          </p:spPr>
        </p:pic>
        <p:pic>
          <p:nvPicPr>
            <p:cNvPr id="254982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588" y="2460625"/>
              <a:ext cx="7920037" cy="441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4984" name="AutoShape 8"/>
            <p:cNvSpPr>
              <a:spLocks noChangeArrowheads="1"/>
            </p:cNvSpPr>
            <p:nvPr/>
          </p:nvSpPr>
          <p:spPr bwMode="auto">
            <a:xfrm>
              <a:off x="0" y="490538"/>
              <a:ext cx="2976564" cy="1873250"/>
            </a:xfrm>
            <a:prstGeom prst="wedgeRoundRectCallout">
              <a:avLst>
                <a:gd name="adj1" fmla="val 102106"/>
                <a:gd name="adj2" fmla="val 64324"/>
                <a:gd name="adj3" fmla="val 16667"/>
              </a:avLst>
            </a:prstGeom>
            <a:solidFill>
              <a:schemeClr val="bg1"/>
            </a:solidFill>
            <a:ln w="9525">
              <a:solidFill>
                <a:srgbClr val="000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dirty="0">
                  <a:solidFill>
                    <a:srgbClr val="3333CC"/>
                  </a:solidFill>
                </a:rPr>
                <a:t>Highlight the major blood vessels and study the shape of the flow of the contrast medium (to detect blockages, etc.)</a:t>
              </a:r>
              <a:endParaRPr lang="en-US" altLang="en-US" sz="1200" b="1" dirty="0">
                <a:solidFill>
                  <a:srgbClr val="3333CC"/>
                </a:solidFill>
              </a:endParaRPr>
            </a:p>
          </p:txBody>
        </p:sp>
        <p:sp>
          <p:nvSpPr>
            <p:cNvPr id="254985" name="AutoShape 9"/>
            <p:cNvSpPr>
              <a:spLocks noChangeArrowheads="1"/>
            </p:cNvSpPr>
            <p:nvPr/>
          </p:nvSpPr>
          <p:spPr bwMode="auto">
            <a:xfrm>
              <a:off x="2643188" y="4911725"/>
              <a:ext cx="2976562" cy="1590675"/>
            </a:xfrm>
            <a:prstGeom prst="wedgeRoundRectCallout">
              <a:avLst>
                <a:gd name="adj1" fmla="val 95759"/>
                <a:gd name="adj2" fmla="val -129144"/>
                <a:gd name="adj3" fmla="val 16667"/>
              </a:avLst>
            </a:prstGeom>
            <a:solidFill>
              <a:schemeClr val="bg1"/>
            </a:solidFill>
            <a:ln w="9525">
              <a:solidFill>
                <a:srgbClr val="000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6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dirty="0">
                  <a:solidFill>
                    <a:srgbClr val="3333CC"/>
                  </a:solidFill>
                </a:rPr>
                <a:t>Measuring the actual flow of the contrast medium as a function of time in a series of images</a:t>
              </a:r>
              <a:endParaRPr lang="en-US" altLang="en-US" sz="1200" b="1" dirty="0">
                <a:solidFill>
                  <a:srgbClr val="3333CC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3063066" y="700216"/>
            <a:ext cx="3361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en-US" dirty="0"/>
              <a:t>Intensity-level Slicing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63E8BD-7194-4D60-8FD0-41DB824485C0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246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9581E2-4CD2-42FC-BB66-FECE82FF220F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53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Spatial Filtering</a:t>
            </a:r>
            <a:endParaRPr lang="en-US" sz="3200"/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5397" name="Rectangle 5"/>
          <p:cNvSpPr>
            <a:spLocks noRot="1" noChangeArrowheads="1"/>
          </p:cNvSpPr>
          <p:nvPr/>
        </p:nvSpPr>
        <p:spPr bwMode="auto">
          <a:xfrm>
            <a:off x="555625" y="1907464"/>
            <a:ext cx="7953375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200" dirty="0"/>
              <a:t>    A spatial filter consists of (a) </a:t>
            </a:r>
            <a:r>
              <a:rPr lang="en-US" altLang="en-US" sz="2200" b="1" dirty="0"/>
              <a:t>a neighborhood</a:t>
            </a:r>
            <a:r>
              <a:rPr lang="en-US" altLang="en-US" sz="2200" dirty="0"/>
              <a:t>, and (b) </a:t>
            </a:r>
            <a:r>
              <a:rPr lang="en-US" altLang="en-US" sz="2200" b="1" dirty="0"/>
              <a:t>a</a:t>
            </a:r>
            <a:r>
              <a:rPr lang="en-US" altLang="en-US" sz="2200" dirty="0"/>
              <a:t> </a:t>
            </a:r>
            <a:r>
              <a:rPr lang="en-US" altLang="en-US" sz="2200" b="1" dirty="0"/>
              <a:t>predefined operation</a:t>
            </a:r>
            <a:r>
              <a:rPr lang="en-US" altLang="en-US" sz="2200" dirty="0"/>
              <a:t> </a:t>
            </a: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200" dirty="0"/>
              <a:t>    Linear spatial filtering of an image of size </a:t>
            </a:r>
            <a:r>
              <a:rPr lang="en-US" altLang="en-US" sz="2200" dirty="0" err="1"/>
              <a:t>MxN</a:t>
            </a:r>
            <a:r>
              <a:rPr lang="en-US" altLang="en-US" sz="2200" dirty="0"/>
              <a:t> with a filter of size </a:t>
            </a:r>
            <a:r>
              <a:rPr lang="en-US" altLang="en-US" sz="2200" dirty="0" err="1"/>
              <a:t>mxn</a:t>
            </a:r>
            <a:r>
              <a:rPr lang="en-US" altLang="en-US" sz="2200" dirty="0"/>
              <a:t> is given by the expression </a:t>
            </a:r>
            <a:endParaRPr lang="en-US" altLang="en-US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1751013" y="3952875"/>
          <a:ext cx="469582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260600" imgH="431800" progId="Equation.DSMT4">
                  <p:embed/>
                </p:oleObj>
              </mc:Choice>
              <mc:Fallback>
                <p:oleObj name="Equation" r:id="rId1" imgW="2260600" imgH="431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3952875"/>
                        <a:ext cx="469582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5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5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FAEC44-9794-4C54-8247-FCF56B9ED785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349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5B571C-67B8-4CFB-A736-ECA477982786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6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Spatial Filtering</a:t>
            </a:r>
            <a:endParaRPr lang="en-US" sz="3200"/>
          </a:p>
        </p:txBody>
      </p:sp>
      <p:sp>
        <p:nvSpPr>
          <p:cNvPr id="63494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1706425"/>
            <a:ext cx="4451350" cy="480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36E047-9E74-4685-9521-B9785D01D60D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451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DA42AE-32F9-490F-BC8A-D4C1646C0A9E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7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Spatial Correlation</a:t>
            </a:r>
            <a:endParaRPr lang="en-US" sz="3200"/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830713" y="1931988"/>
          <a:ext cx="7786688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060700" imgH="431800" progId="Equation.DSMT4">
                  <p:embed/>
                </p:oleObj>
              </mc:Choice>
              <mc:Fallback>
                <p:oleObj name="Equation" r:id="rId1" imgW="3060700" imgH="431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713" y="1931988"/>
                        <a:ext cx="7786688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7448" name="AutoShape 8"/>
          <p:cNvSpPr>
            <a:spLocks noChangeArrowheads="1"/>
          </p:cNvSpPr>
          <p:nvPr/>
        </p:nvSpPr>
        <p:spPr bwMode="auto">
          <a:xfrm>
            <a:off x="7307263" y="2612742"/>
            <a:ext cx="220662" cy="217488"/>
          </a:xfrm>
          <a:prstGeom prst="star5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1204118" y="3018248"/>
          <a:ext cx="6735763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832100" imgH="431800" progId="Equation.DSMT4">
                  <p:embed/>
                </p:oleObj>
              </mc:Choice>
              <mc:Fallback>
                <p:oleObj name="Equation" r:id="rId3" imgW="2832100" imgH="431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118" y="3018248"/>
                        <a:ext cx="6735763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50" name="AutoShape 10"/>
          <p:cNvSpPr>
            <a:spLocks noChangeArrowheads="1"/>
          </p:cNvSpPr>
          <p:nvPr/>
        </p:nvSpPr>
        <p:spPr bwMode="auto">
          <a:xfrm>
            <a:off x="2286000" y="3386139"/>
            <a:ext cx="220662" cy="217487"/>
          </a:xfrm>
          <a:prstGeom prst="star5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2BB6D0-AD76-4DA8-9697-5A53D832D14F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9BBC7D-D984-47D4-848A-3D829B47A4CF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8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Spatial Convolution</a:t>
            </a:r>
            <a:endParaRPr lang="en-US" sz="3200"/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65542" name="Object 5"/>
          <p:cNvGraphicFramePr>
            <a:graphicFrameLocks noChangeAspect="1"/>
          </p:cNvGraphicFramePr>
          <p:nvPr/>
        </p:nvGraphicFramePr>
        <p:xfrm>
          <a:off x="773894" y="1823244"/>
          <a:ext cx="7786688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060700" imgH="431800" progId="Equation.DSMT4">
                  <p:embed/>
                </p:oleObj>
              </mc:Choice>
              <mc:Fallback>
                <p:oleObj name="Equation" r:id="rId1" imgW="3060700" imgH="431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894" y="1823244"/>
                        <a:ext cx="7786688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3" name="Text Box 6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8471" name="AutoShape 7"/>
          <p:cNvSpPr>
            <a:spLocks noChangeArrowheads="1"/>
          </p:cNvSpPr>
          <p:nvPr/>
        </p:nvSpPr>
        <p:spPr bwMode="auto">
          <a:xfrm>
            <a:off x="7196932" y="2501105"/>
            <a:ext cx="220662" cy="217488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aphicFrame>
        <p:nvGraphicFramePr>
          <p:cNvPr id="65545" name="Object 8"/>
          <p:cNvGraphicFramePr>
            <a:graphicFrameLocks noChangeAspect="1"/>
          </p:cNvGraphicFramePr>
          <p:nvPr/>
        </p:nvGraphicFramePr>
        <p:xfrm>
          <a:off x="1143000" y="2813446"/>
          <a:ext cx="67056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819400" imgH="431800" progId="Equation.DSMT4">
                  <p:embed/>
                </p:oleObj>
              </mc:Choice>
              <mc:Fallback>
                <p:oleObj name="Equation" r:id="rId3" imgW="2819400" imgH="431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13446"/>
                        <a:ext cx="67056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3" name="AutoShape 9"/>
          <p:cNvSpPr>
            <a:spLocks noChangeArrowheads="1"/>
          </p:cNvSpPr>
          <p:nvPr/>
        </p:nvSpPr>
        <p:spPr bwMode="auto">
          <a:xfrm>
            <a:off x="2286000" y="3218258"/>
            <a:ext cx="220662" cy="217487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2BB6D0-AD76-4DA8-9697-5A53D832D14F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9BBC7D-D984-47D4-848A-3D829B47A4CF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8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dirty="0"/>
              <a:t>Correlation Vs Convolution</a:t>
            </a:r>
            <a:endParaRPr lang="en-US" sz="3200" dirty="0"/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5543" name="Text Box 6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8473" name="AutoShape 9"/>
          <p:cNvSpPr>
            <a:spLocks noChangeArrowheads="1"/>
          </p:cNvSpPr>
          <p:nvPr/>
        </p:nvSpPr>
        <p:spPr bwMode="auto">
          <a:xfrm>
            <a:off x="2286000" y="3218258"/>
            <a:ext cx="220662" cy="217487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100" y="2172152"/>
            <a:ext cx="4484200" cy="33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56852" y="5999101"/>
            <a:ext cx="7100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https://en.wikipedia.org/wiki/Cross-correlation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2BB6D0-AD76-4DA8-9697-5A53D832D14F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9BBC7D-D984-47D4-848A-3D829B47A4CF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8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dirty="0"/>
              <a:t>Convolution</a:t>
            </a:r>
            <a:endParaRPr lang="en-US" sz="3200" dirty="0"/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5543" name="Text Box 6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8473" name="AutoShape 9"/>
          <p:cNvSpPr>
            <a:spLocks noChangeArrowheads="1"/>
          </p:cNvSpPr>
          <p:nvPr/>
        </p:nvSpPr>
        <p:spPr bwMode="auto">
          <a:xfrm>
            <a:off x="2286000" y="3218258"/>
            <a:ext cx="220662" cy="217487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40" y="1957783"/>
            <a:ext cx="44577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98638" y="5497288"/>
            <a:ext cx="69722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2"/>
              </a:rPr>
              <a:t>https://en.wikipedia.org/wiki/Convolution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145" y="3663110"/>
            <a:ext cx="44577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2BB6D0-AD76-4DA8-9697-5A53D832D14F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9BBC7D-D984-47D4-848A-3D829B47A4CF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8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dirty="0"/>
              <a:t>2D Convolution</a:t>
            </a:r>
            <a:endParaRPr lang="en-US" sz="3200" dirty="0"/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5543" name="Text Box 6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" name="TextBox 3"/>
          <p:cNvSpPr txBox="1"/>
          <p:nvPr/>
        </p:nvSpPr>
        <p:spPr>
          <a:xfrm>
            <a:off x="1398638" y="5497288"/>
            <a:ext cx="69722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1"/>
              </a:rPr>
              <a:t>https://en.wikipedia.org/wiki/Convolution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75" y="1890611"/>
            <a:ext cx="3867150" cy="342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398DBF-318B-4E34-925A-4F63E262156F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656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F4107B-A5E8-4A86-9B0D-4E4948D15FCD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9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194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pic>
        <p:nvPicPr>
          <p:cNvPr id="6656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0"/>
            <a:ext cx="643096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9493" name="Rectangle 5"/>
          <p:cNvSpPr>
            <a:spLocks noChangeArrowheads="1"/>
          </p:cNvSpPr>
          <p:nvPr/>
        </p:nvSpPr>
        <p:spPr bwMode="auto">
          <a:xfrm>
            <a:off x="3019425" y="0"/>
            <a:ext cx="2119313" cy="22209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9494" name="Rectangle 6"/>
          <p:cNvSpPr>
            <a:spLocks noChangeArrowheads="1"/>
          </p:cNvSpPr>
          <p:nvPr/>
        </p:nvSpPr>
        <p:spPr bwMode="auto">
          <a:xfrm>
            <a:off x="3057525" y="2209800"/>
            <a:ext cx="2119313" cy="22939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9495" name="Rectangle 7"/>
          <p:cNvSpPr>
            <a:spLocks noChangeArrowheads="1"/>
          </p:cNvSpPr>
          <p:nvPr/>
        </p:nvSpPr>
        <p:spPr bwMode="auto">
          <a:xfrm>
            <a:off x="5167313" y="2262188"/>
            <a:ext cx="2119312" cy="2263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9496" name="Rectangle 8"/>
          <p:cNvSpPr>
            <a:spLocks noChangeArrowheads="1"/>
          </p:cNvSpPr>
          <p:nvPr/>
        </p:nvSpPr>
        <p:spPr bwMode="auto">
          <a:xfrm>
            <a:off x="895350" y="2262188"/>
            <a:ext cx="2119313" cy="22939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9497" name="Rectangle 9"/>
          <p:cNvSpPr>
            <a:spLocks noChangeArrowheads="1"/>
          </p:cNvSpPr>
          <p:nvPr/>
        </p:nvSpPr>
        <p:spPr bwMode="auto">
          <a:xfrm>
            <a:off x="3095625" y="4562475"/>
            <a:ext cx="2119313" cy="22939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9498" name="Rectangle 10"/>
          <p:cNvSpPr>
            <a:spLocks noChangeArrowheads="1"/>
          </p:cNvSpPr>
          <p:nvPr/>
        </p:nvSpPr>
        <p:spPr bwMode="auto">
          <a:xfrm>
            <a:off x="5181600" y="4562475"/>
            <a:ext cx="2119313" cy="22939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9499" name="Rectangle 11"/>
          <p:cNvSpPr>
            <a:spLocks noChangeArrowheads="1"/>
          </p:cNvSpPr>
          <p:nvPr/>
        </p:nvSpPr>
        <p:spPr bwMode="auto">
          <a:xfrm>
            <a:off x="852488" y="4576763"/>
            <a:ext cx="2119312" cy="22939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319500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50" y="730250"/>
            <a:ext cx="1792288" cy="274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3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3" grpId="0" animBg="1"/>
      <p:bldP spid="319494" grpId="0" animBg="1"/>
      <p:bldP spid="319495" grpId="0" animBg="1"/>
      <p:bldP spid="319496" grpId="0" animBg="1"/>
      <p:bldP spid="319497" grpId="0" animBg="1"/>
      <p:bldP spid="319498" grpId="0" animBg="1"/>
      <p:bldP spid="31949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4DF522-AC55-4A06-BABD-A87A0E8E604D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6963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0C63AF-20C5-46C3-935B-929B9E86CA31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215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Two Smoothing Averaging Filter Masks</a:t>
            </a:r>
            <a:endParaRPr lang="en-US" sz="3200"/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9638" name="Text Box 5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6963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879600"/>
            <a:ext cx="5953125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64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906588"/>
            <a:ext cx="1781175" cy="345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509472-5596-4D3D-B9F2-0B483EBC6F38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065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5D7E49-71EE-453C-ACBD-21301889E877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70662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641278"/>
            <a:ext cx="5149088" cy="1356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66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51" y="1883964"/>
            <a:ext cx="3005018" cy="4477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EBD070-ACAF-455D-9DBF-4CCB87BFD654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373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079BBE-6EF1-4DA7-8348-A88E0870100B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3732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3733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27685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Example: Use of Median Filtering for Noise Reduction</a:t>
            </a:r>
            <a:endParaRPr lang="en-US" sz="2800"/>
          </a:p>
        </p:txBody>
      </p:sp>
      <p:pic>
        <p:nvPicPr>
          <p:cNvPr id="7373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2118519"/>
            <a:ext cx="865505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60CEA9-55F6-4844-B53D-356E7A1F5226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75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1E7160-C888-46B5-9E53-63F74B8A9B45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4756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4757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28709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Sharpening Spatial Filters</a:t>
            </a:r>
            <a:endParaRPr lang="en-US" sz="2800"/>
          </a:p>
        </p:txBody>
      </p:sp>
      <p:sp>
        <p:nvSpPr>
          <p:cNvPr id="328711" name="Rectangle 7"/>
          <p:cNvSpPr>
            <a:spLocks noRot="1" noChangeArrowheads="1"/>
          </p:cNvSpPr>
          <p:nvPr/>
        </p:nvSpPr>
        <p:spPr bwMode="auto">
          <a:xfrm>
            <a:off x="647700" y="1885548"/>
            <a:ext cx="7953375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200" dirty="0"/>
              <a:t>    Foundation </a:t>
            </a: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200" dirty="0"/>
              <a:t>    Laplacian Operator</a:t>
            </a: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/>
          </a:p>
          <a:p>
            <a:pPr eaLnBrk="1" hangingPunct="1"/>
            <a:r>
              <a:rPr lang="en-US" altLang="en-US" sz="2200" dirty="0"/>
              <a:t>    Derivatives /Gradient </a:t>
            </a: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87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D4768D-1AB9-483F-BA27-B05490410B00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577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D6F024-160E-4618-A2E0-3B35DB299332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5780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5781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29733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Sharpening Spatial Filters: Foundation</a:t>
            </a:r>
            <a:endParaRPr lang="en-US" sz="2800"/>
          </a:p>
        </p:txBody>
      </p:sp>
      <p:sp>
        <p:nvSpPr>
          <p:cNvPr id="329734" name="Rectangle 6"/>
          <p:cNvSpPr>
            <a:spLocks noRot="1" noChangeArrowheads="1"/>
          </p:cNvSpPr>
          <p:nvPr/>
        </p:nvSpPr>
        <p:spPr bwMode="auto">
          <a:xfrm>
            <a:off x="588773" y="1836643"/>
            <a:ext cx="7953375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200" dirty="0"/>
              <a:t>The first-order derivative of a one-dimensional function f(x) is the difference</a:t>
            </a: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The second-order derivative of f(x) as the difference</a:t>
            </a:r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000" dirty="0"/>
          </a:p>
        </p:txBody>
      </p:sp>
      <p:graphicFrame>
        <p:nvGraphicFramePr>
          <p:cNvPr id="329735" name="Object 7"/>
          <p:cNvGraphicFramePr>
            <a:graphicFrameLocks noChangeAspect="1"/>
          </p:cNvGraphicFramePr>
          <p:nvPr/>
        </p:nvGraphicFramePr>
        <p:xfrm>
          <a:off x="2230438" y="2535238"/>
          <a:ext cx="309403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269365" imgH="393700" progId="Equation.DSMT4">
                  <p:embed/>
                </p:oleObj>
              </mc:Choice>
              <mc:Fallback>
                <p:oleObj name="Equation" r:id="rId1" imgW="1269365" imgH="3937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2535238"/>
                        <a:ext cx="3094037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6" name="Object 8"/>
          <p:cNvGraphicFramePr>
            <a:graphicFrameLocks noChangeAspect="1"/>
          </p:cNvGraphicFramePr>
          <p:nvPr/>
        </p:nvGraphicFramePr>
        <p:xfrm>
          <a:off x="1938338" y="4772025"/>
          <a:ext cx="46990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338" y="4772025"/>
                        <a:ext cx="46990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9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F302CE-996F-4EDA-B486-05D51763E0EF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680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13B2B2-FE41-4410-93E5-27CF4043E624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6805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6806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76808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381" y="1863725"/>
            <a:ext cx="1827213" cy="459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0764" name="Rectangle 12"/>
          <p:cNvSpPr>
            <a:spLocks noChangeArrowheads="1"/>
          </p:cNvSpPr>
          <p:nvPr/>
        </p:nvSpPr>
        <p:spPr bwMode="auto">
          <a:xfrm>
            <a:off x="246063" y="2728913"/>
            <a:ext cx="6894512" cy="957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7680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31" y="1815984"/>
            <a:ext cx="5340509" cy="462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6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7C5E13-57ED-4A92-82F8-94488C908943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782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789FF8-8D61-498E-954A-AB789271DF0B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7829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1781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Sharpening Spatial Filters: Laplace Operator</a:t>
            </a:r>
            <a:endParaRPr lang="en-US" sz="2800"/>
          </a:p>
        </p:txBody>
      </p:sp>
      <p:sp>
        <p:nvSpPr>
          <p:cNvPr id="77831" name="Rectangle 6"/>
          <p:cNvSpPr>
            <a:spLocks noRot="1" noChangeArrowheads="1"/>
          </p:cNvSpPr>
          <p:nvPr/>
        </p:nvSpPr>
        <p:spPr bwMode="auto">
          <a:xfrm>
            <a:off x="678180" y="1812132"/>
            <a:ext cx="7953375" cy="480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200"/>
              <a:t>    The second-order isotropic derivative operator is the Laplacian for a function (image) f(x,y)</a:t>
            </a:r>
            <a:endParaRPr lang="en-US" altLang="en-US" sz="220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/>
          </a:p>
          <a:p>
            <a:pPr eaLnBrk="1" hangingPunct="1"/>
            <a:endParaRPr lang="en-US" altLang="en-US" sz="2200"/>
          </a:p>
          <a:p>
            <a:pPr eaLnBrk="1" hangingPunct="1"/>
            <a:endParaRPr lang="en-US" altLang="en-US" sz="2200"/>
          </a:p>
          <a:p>
            <a:pPr eaLnBrk="1" hangingPunct="1"/>
            <a:endParaRPr lang="en-US" altLang="en-US" sz="220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/>
          </a:p>
          <a:p>
            <a:pPr eaLnBrk="1" hangingPunct="1"/>
            <a:endParaRPr lang="en-US" altLang="en-US" sz="2000"/>
          </a:p>
        </p:txBody>
      </p:sp>
      <p:graphicFrame>
        <p:nvGraphicFramePr>
          <p:cNvPr id="77832" name="Object 7"/>
          <p:cNvGraphicFramePr>
            <a:graphicFrameLocks noChangeAspect="1"/>
          </p:cNvGraphicFramePr>
          <p:nvPr/>
        </p:nvGraphicFramePr>
        <p:xfrm>
          <a:off x="2448242" y="2642395"/>
          <a:ext cx="26082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129665" imgH="444500" progId="Equation.DSMT4">
                  <p:embed/>
                </p:oleObj>
              </mc:Choice>
              <mc:Fallback>
                <p:oleObj name="Equation" r:id="rId1" imgW="1129665" imgH="4445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242" y="2642395"/>
                        <a:ext cx="2608263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4" name="Object 8"/>
          <p:cNvGraphicFramePr>
            <a:graphicFrameLocks noChangeAspect="1"/>
          </p:cNvGraphicFramePr>
          <p:nvPr/>
        </p:nvGraphicFramePr>
        <p:xfrm>
          <a:off x="1435417" y="3531395"/>
          <a:ext cx="48006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489200" imgH="419100" progId="Equation.DSMT4">
                  <p:embed/>
                </p:oleObj>
              </mc:Choice>
              <mc:Fallback>
                <p:oleObj name="Equation" r:id="rId3" imgW="2489200" imgH="4191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417" y="3531395"/>
                        <a:ext cx="480060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5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1410017" y="4368007"/>
          <a:ext cx="48196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489200" imgH="444500" progId="Equation.DSMT4">
                  <p:embed/>
                </p:oleObj>
              </mc:Choice>
              <mc:Fallback>
                <p:oleObj name="Equation" r:id="rId5" imgW="2489200" imgH="4445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017" y="4368007"/>
                        <a:ext cx="481965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9" name="Object 13"/>
          <p:cNvGraphicFramePr>
            <a:graphicFrameLocks noChangeAspect="1"/>
          </p:cNvGraphicFramePr>
          <p:nvPr/>
        </p:nvGraphicFramePr>
        <p:xfrm>
          <a:off x="1390650" y="5318919"/>
          <a:ext cx="70659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3352800" imgH="457200" progId="Equation.DSMT4">
                  <p:embed/>
                </p:oleObj>
              </mc:Choice>
              <mc:Fallback>
                <p:oleObj name="Equation" r:id="rId7" imgW="3352800" imgH="457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5318919"/>
                        <a:ext cx="706596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066E81-B498-4DA6-BA32-F9D1666EFB34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70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B8CC19-53BC-4B2B-8B38-507808000EA1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7044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7045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2021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Image Sharpening based on First-Order Derivatives</a:t>
            </a:r>
            <a:endParaRPr lang="en-US" sz="2800"/>
          </a:p>
        </p:txBody>
      </p:sp>
      <p:graphicFrame>
        <p:nvGraphicFramePr>
          <p:cNvPr id="87047" name="Object 7"/>
          <p:cNvGraphicFramePr>
            <a:graphicFrameLocks noChangeAspect="1"/>
          </p:cNvGraphicFramePr>
          <p:nvPr/>
        </p:nvGraphicFramePr>
        <p:xfrm>
          <a:off x="1005681" y="2387998"/>
          <a:ext cx="7515225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009900" imgH="533400" progId="Equation.DSMT4">
                  <p:embed/>
                </p:oleObj>
              </mc:Choice>
              <mc:Fallback>
                <p:oleObj name="Equation" r:id="rId1" imgW="3009900" imgH="5334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681" y="2387998"/>
                        <a:ext cx="7515225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5" name="Object 9"/>
          <p:cNvGraphicFramePr>
            <a:graphicFrameLocks noChangeAspect="1"/>
          </p:cNvGraphicFramePr>
          <p:nvPr/>
        </p:nvGraphicFramePr>
        <p:xfrm>
          <a:off x="2799556" y="3813969"/>
          <a:ext cx="35448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320165" imgH="241300" progId="Equation.DSMT4">
                  <p:embed/>
                </p:oleObj>
              </mc:Choice>
              <mc:Fallback>
                <p:oleObj name="Equation" r:id="rId3" imgW="1320165" imgH="2413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556" y="3813969"/>
                        <a:ext cx="35448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60" name="Group 44"/>
          <p:cNvGraphicFramePr>
            <a:graphicFrameLocks noGrp="1"/>
          </p:cNvGraphicFramePr>
          <p:nvPr>
            <p:ph idx="1"/>
          </p:nvPr>
        </p:nvGraphicFramePr>
        <p:xfrm>
          <a:off x="617220" y="4516359"/>
          <a:ext cx="1936750" cy="1570036"/>
        </p:xfrm>
        <a:graphic>
          <a:graphicData uri="http://schemas.openxmlformats.org/drawingml/2006/table">
            <a:tbl>
              <a:tblPr/>
              <a:tblGrid>
                <a:gridCol w="646113"/>
                <a:gridCol w="644525"/>
                <a:gridCol w="646112"/>
              </a:tblGrid>
              <a:tr h="5254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1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2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3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4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5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6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7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8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9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2061" name="Object 45"/>
          <p:cNvGraphicFramePr>
            <a:graphicFrameLocks noChangeAspect="1"/>
          </p:cNvGraphicFramePr>
          <p:nvPr/>
        </p:nvGraphicFramePr>
        <p:xfrm>
          <a:off x="2689225" y="4649788"/>
          <a:ext cx="41481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778000" imgH="228600" progId="Equation.DSMT4">
                  <p:embed/>
                </p:oleObj>
              </mc:Choice>
              <mc:Fallback>
                <p:oleObj name="Equation" r:id="rId5" imgW="177800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4649788"/>
                        <a:ext cx="41481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4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9D324B-B55C-4F76-B361-77BF1254EA3C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80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7063CF-33C0-4535-B51E-387C846E4420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8509000" y="4759325"/>
            <a:ext cx="515938" cy="365125"/>
          </a:xfrm>
          <a:prstGeom prst="rect">
            <a:avLst/>
          </a:prstGeom>
          <a:solidFill>
            <a:srgbClr val="F3F2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8069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6117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Image Sharpening based on First-Order Derivatives</a:t>
            </a:r>
            <a:endParaRPr lang="en-US" sz="2800"/>
          </a:p>
        </p:txBody>
      </p:sp>
      <p:graphicFrame>
        <p:nvGraphicFramePr>
          <p:cNvPr id="346142" name="Group 30"/>
          <p:cNvGraphicFramePr>
            <a:graphicFrameLocks noGrp="1"/>
          </p:cNvGraphicFramePr>
          <p:nvPr>
            <p:ph idx="1"/>
          </p:nvPr>
        </p:nvGraphicFramePr>
        <p:xfrm>
          <a:off x="722313" y="4529138"/>
          <a:ext cx="1936750" cy="1562148"/>
        </p:xfrm>
        <a:graphic>
          <a:graphicData uri="http://schemas.openxmlformats.org/drawingml/2006/table">
            <a:tbl>
              <a:tblPr/>
              <a:tblGrid>
                <a:gridCol w="646112"/>
                <a:gridCol w="644525"/>
                <a:gridCol w="646113"/>
              </a:tblGrid>
              <a:tr h="5180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1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2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3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0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4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5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6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0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7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8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z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6138" name="Object 26"/>
          <p:cNvGraphicFramePr>
            <a:graphicFrameLocks noChangeAspect="1"/>
          </p:cNvGraphicFramePr>
          <p:nvPr/>
        </p:nvGraphicFramePr>
        <p:xfrm>
          <a:off x="1684338" y="1835150"/>
          <a:ext cx="48879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095500" imgH="431800" progId="Equation.DSMT4">
                  <p:embed/>
                </p:oleObj>
              </mc:Choice>
              <mc:Fallback>
                <p:oleObj name="Equation" r:id="rId1" imgW="2095500" imgH="431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8" y="1835150"/>
                        <a:ext cx="48879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39" name="Object 27"/>
          <p:cNvGraphicFramePr>
            <a:graphicFrameLocks noChangeAspect="1"/>
          </p:cNvGraphicFramePr>
          <p:nvPr/>
        </p:nvGraphicFramePr>
        <p:xfrm>
          <a:off x="2922588" y="3786188"/>
          <a:ext cx="5486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692400" imgH="673100" progId="Equation.DSMT4">
                  <p:embed/>
                </p:oleObj>
              </mc:Choice>
              <mc:Fallback>
                <p:oleObj name="Equation" r:id="rId3" imgW="2692400" imgH="6731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3786188"/>
                        <a:ext cx="54864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55A4B5-00B2-446A-9C9A-F5BE72EC4090}" type="datetime1">
              <a:rPr lang="en-US" altLang="en-US" sz="1000" smtClean="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90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373D5A-65FC-4A3F-BB07-F2EC22736B00}" type="slidenum">
              <a:rPr lang="en-US" altLang="en-US" sz="1000">
                <a:latin typeface="Arial" panose="020B0604020202020204" pitchFamily="34" charset="0"/>
              </a:rPr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647700" y="36306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7141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/>
              <a:t>Image Sharpening based on First-Order Derivatives</a:t>
            </a:r>
            <a:endParaRPr lang="en-US" sz="2800"/>
          </a:p>
        </p:txBody>
      </p:sp>
      <p:pic>
        <p:nvPicPr>
          <p:cNvPr id="89095" name="Picture 2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2209800"/>
            <a:ext cx="1598612" cy="382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9096" name="Group 28"/>
          <p:cNvGrpSpPr>
            <a:grpSpLocks noChangeAspect="1"/>
          </p:cNvGrpSpPr>
          <p:nvPr/>
        </p:nvGrpSpPr>
        <p:grpSpPr bwMode="auto">
          <a:xfrm>
            <a:off x="1862138" y="1023938"/>
            <a:ext cx="4097337" cy="5434012"/>
            <a:chOff x="2002" y="1118"/>
            <a:chExt cx="1752" cy="2323"/>
          </a:xfrm>
        </p:grpSpPr>
        <p:sp>
          <p:nvSpPr>
            <p:cNvPr id="89097" name="AutoShape 29"/>
            <p:cNvSpPr>
              <a:spLocks noChangeAspect="1" noChangeArrowheads="1" noTextEdit="1"/>
            </p:cNvSpPr>
            <p:nvPr/>
          </p:nvSpPr>
          <p:spPr bwMode="auto">
            <a:xfrm>
              <a:off x="2002" y="1118"/>
              <a:ext cx="1752" cy="2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89098" name="Picture 3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2" y="1118"/>
              <a:ext cx="1755" cy="2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Straight Edge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Designs\Straight Edge.pot</Template>
  <TotalTime>0</TotalTime>
  <Words>2153</Words>
  <Application>WPS Presentation</Application>
  <PresentationFormat>On-screen Show (4:3)</PresentationFormat>
  <Paragraphs>251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27</vt:i4>
      </vt:variant>
    </vt:vector>
  </HeadingPairs>
  <TitlesOfParts>
    <vt:vector size="56" baseType="lpstr">
      <vt:lpstr>Arial</vt:lpstr>
      <vt:lpstr>SimSun</vt:lpstr>
      <vt:lpstr>Wingdings</vt:lpstr>
      <vt:lpstr>Times New Roman</vt:lpstr>
      <vt:lpstr>Tahoma</vt:lpstr>
      <vt:lpstr>Microsoft YaHei</vt:lpstr>
      <vt:lpstr>Arial Unicode MS</vt:lpstr>
      <vt:lpstr>Straight Edge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Spatial Domain vs. Transform Domain</vt:lpstr>
      <vt:lpstr>Spatial Domain Process</vt:lpstr>
      <vt:lpstr>Some Basic Intensity Transformation Functions</vt:lpstr>
      <vt:lpstr>Power-Law (Gamma) Transformations</vt:lpstr>
      <vt:lpstr>Example: Gamma Transformations</vt:lpstr>
      <vt:lpstr>Example: Gamma Transformations</vt:lpstr>
      <vt:lpstr>Piecewise-Linear Transformations</vt:lpstr>
      <vt:lpstr>PowerPoint 演示文稿</vt:lpstr>
      <vt:lpstr>Spatial Filtering</vt:lpstr>
      <vt:lpstr>Spatial Filtering</vt:lpstr>
      <vt:lpstr>Spatial Correlation</vt:lpstr>
      <vt:lpstr>Spatial Convolution</vt:lpstr>
      <vt:lpstr>Correlation Vs Convolution</vt:lpstr>
      <vt:lpstr>Convolution</vt:lpstr>
      <vt:lpstr>2D Convolution</vt:lpstr>
      <vt:lpstr>PowerPoint 演示文稿</vt:lpstr>
      <vt:lpstr>Two Smoothing Averaging Filter Masks</vt:lpstr>
      <vt:lpstr>PowerPoint 演示文稿</vt:lpstr>
      <vt:lpstr>Example: Use of Median Filtering for Noise Reduction</vt:lpstr>
      <vt:lpstr>Sharpening Spatial Filters</vt:lpstr>
      <vt:lpstr>Sharpening Spatial Filters: Foundation</vt:lpstr>
      <vt:lpstr>PowerPoint 演示文稿</vt:lpstr>
      <vt:lpstr>Sharpening Spatial Filters: Laplace Operator</vt:lpstr>
      <vt:lpstr>Image Sharpening based on First-Order Derivatives</vt:lpstr>
      <vt:lpstr>Image Sharpening based on First-Order Derivatives</vt:lpstr>
      <vt:lpstr>Image Sharpening based on First-Order Derivatives</vt:lpstr>
    </vt:vector>
  </TitlesOfParts>
  <Company>IBM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Content-Based Retrieval (CBR) -in multimedia systems</dc:title>
  <dc:creator>CHAO CAI</dc:creator>
  <cp:lastModifiedBy>Shahid Ismail Malik</cp:lastModifiedBy>
  <cp:revision>779</cp:revision>
  <cp:lastPrinted>2022-10-10T16:31:00Z</cp:lastPrinted>
  <dcterms:created xsi:type="dcterms:W3CDTF">2006-02-25T01:58:00Z</dcterms:created>
  <dcterms:modified xsi:type="dcterms:W3CDTF">2026-01-30T06:05:08Z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8A1E8659161C49A38BB8CFE78E77A3AC_12</vt:lpwstr>
  </property>
  <property fmtid="{D5CDD505-2E9C-101B-9397-08002B2CF9AE}" pid="3" name="KSOProductBuildVer">
    <vt:lpwstr>1033-12.2.0.23196</vt:lpwstr>
  </property>
</Properties>
</file>