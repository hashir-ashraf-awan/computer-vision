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726" r:id="rId3"/>
    <p:sldId id="727" r:id="rId4"/>
    <p:sldId id="728" r:id="rId5"/>
    <p:sldId id="716" r:id="rId6"/>
    <p:sldId id="717" r:id="rId7"/>
    <p:sldId id="718" r:id="rId8"/>
    <p:sldId id="719" r:id="rId9"/>
    <p:sldId id="731" r:id="rId10"/>
    <p:sldId id="720" r:id="rId11"/>
    <p:sldId id="721" r:id="rId12"/>
    <p:sldId id="722" r:id="rId13"/>
    <p:sldId id="723" r:id="rId14"/>
    <p:sldId id="724" r:id="rId15"/>
    <p:sldId id="498" r:id="rId16"/>
    <p:sldId id="774" r:id="rId17"/>
    <p:sldId id="775" r:id="rId18"/>
    <p:sldId id="791" r:id="rId19"/>
    <p:sldId id="621" r:id="rId20"/>
    <p:sldId id="793" r:id="rId21"/>
    <p:sldId id="794" r:id="rId22"/>
    <p:sldId id="795" r:id="rId23"/>
    <p:sldId id="797" r:id="rId24"/>
    <p:sldId id="798" r:id="rId25"/>
    <p:sldId id="799" r:id="rId26"/>
    <p:sldId id="800" r:id="rId27"/>
    <p:sldId id="801" r:id="rId28"/>
    <p:sldId id="802" r:id="rId29"/>
    <p:sldId id="803" r:id="rId30"/>
    <p:sldId id="804" r:id="rId31"/>
    <p:sldId id="805" r:id="rId32"/>
    <p:sldId id="806" r:id="rId33"/>
    <p:sldId id="807" r:id="rId34"/>
    <p:sldId id="808" r:id="rId35"/>
    <p:sldId id="809" r:id="rId36"/>
    <p:sldId id="810" r:id="rId37"/>
    <p:sldId id="811" r:id="rId38"/>
    <p:sldId id="788" r:id="rId39"/>
    <p:sldId id="789" r:id="rId40"/>
    <p:sldId id="790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455" autoAdjust="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F2381-537B-4059-BF0E-A27B086593B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ABB03-7348-4BD6-98EE-2AE963DF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1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656CB725-6DDE-4357-BF6B-673C2B6A1167}" type="slidenum">
              <a:rPr lang="en-US" altLang="ko-KR" b="0"/>
              <a:pPr/>
              <a:t>3</a:t>
            </a:fld>
            <a:endParaRPr lang="en-US" altLang="ko-KR" b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ko-KR" smtClean="0"/>
          </a:p>
        </p:txBody>
      </p:sp>
    </p:spTree>
    <p:extLst>
      <p:ext uri="{BB962C8B-B14F-4D97-AF65-F5344CB8AC3E}">
        <p14:creationId xmlns:p14="http://schemas.microsoft.com/office/powerpoint/2010/main" val="12868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48AAF960-5708-4699-8C0E-9BC76AAD5A18}" type="slidenum">
              <a:rPr lang="en-US" altLang="ko-KR" b="0"/>
              <a:pPr/>
              <a:t>4</a:t>
            </a:fld>
            <a:endParaRPr lang="en-US" altLang="ko-KR" b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ko-KR" smtClean="0"/>
          </a:p>
        </p:txBody>
      </p:sp>
    </p:spTree>
    <p:extLst>
      <p:ext uri="{BB962C8B-B14F-4D97-AF65-F5344CB8AC3E}">
        <p14:creationId xmlns:p14="http://schemas.microsoft.com/office/powerpoint/2010/main" val="3076420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714B3-73B8-470F-B6CD-433CBAA602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3944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714B3-73B8-470F-B6CD-433CBAA602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1310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714B3-73B8-470F-B6CD-433CBAA602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2556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714B3-73B8-470F-B6CD-433CBAA602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745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sz="1200" b="0" i="0" u="none" strike="noStrike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12A9C9-7209-43C8-B253-1255A1B545E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86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sz="1200" b="0" i="0" u="none" strike="noStrike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12A9C9-7209-43C8-B253-1255A1B545E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65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sz="1200" b="0" i="0" u="none" strike="noStrike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12A9C9-7209-43C8-B253-1255A1B545E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16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4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2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02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58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1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7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1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80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56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0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7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14C4C-ED6B-4ABF-8966-5F133D3C9FE5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FDF74-8843-433D-99CC-678A00EA8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4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.wmf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Convolutional neural </a:t>
            </a:r>
            <a:r>
              <a:rPr lang="en-US" dirty="0" smtClean="0"/>
              <a:t>networks and </a:t>
            </a:r>
            <a:r>
              <a:rPr lang="en-US" dirty="0"/>
              <a:t> Long Short-Term </a:t>
            </a:r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Shahid Ismail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0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D8FEE98A-BCD8-4DAE-B57E-FE46D75639BE}" type="slidenum">
              <a:rPr lang="en-US" altLang="ko-KR" b="0">
                <a:solidFill>
                  <a:schemeClr val="folHlin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</a:rPr>
              <a:pPr/>
              <a:t>2</a:t>
            </a:fld>
            <a:endParaRPr lang="en-US" altLang="ko-KR" b="0">
              <a:solidFill>
                <a:schemeClr val="folHlink"/>
              </a:solidFill>
              <a:latin typeface="Arial Unicode MS" panose="020B0604020202020204" pitchFamily="34" charset="-128"/>
              <a:ea typeface="Arial Unicode MS" panose="020B0604020202020204" pitchFamily="34" charset="-128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4811486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dirty="0" smtClean="0"/>
              <a:t>CNN’s Topology</a:t>
            </a:r>
            <a:endParaRPr lang="en-US" altLang="ko-KR" b="1" dirty="0" smtClean="0"/>
          </a:p>
        </p:txBody>
      </p:sp>
      <p:pic>
        <p:nvPicPr>
          <p:cNvPr id="3379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1981200"/>
            <a:ext cx="7261225" cy="17145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797" name="Line 12"/>
          <p:cNvSpPr>
            <a:spLocks noChangeShapeType="1"/>
          </p:cNvSpPr>
          <p:nvPr/>
        </p:nvSpPr>
        <p:spPr bwMode="auto">
          <a:xfrm>
            <a:off x="4953000" y="35814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8" name="Text Box 13"/>
          <p:cNvSpPr txBox="1">
            <a:spLocks noChangeArrowheads="1"/>
          </p:cNvSpPr>
          <p:nvPr/>
        </p:nvSpPr>
        <p:spPr bwMode="auto">
          <a:xfrm>
            <a:off x="3549666" y="4114801"/>
            <a:ext cx="280031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/>
              <a:t>Feature extraction layer</a:t>
            </a:r>
          </a:p>
          <a:p>
            <a:pPr algn="ctr" eaLnBrk="1" hangingPunct="1"/>
            <a:r>
              <a:rPr lang="en-US" altLang="ko-KR">
                <a:solidFill>
                  <a:srgbClr val="FF0000"/>
                </a:solidFill>
              </a:rPr>
              <a:t>C</a:t>
            </a:r>
            <a:r>
              <a:rPr lang="en-US" altLang="ko-KR"/>
              <a:t>onvolution layer</a:t>
            </a:r>
          </a:p>
        </p:txBody>
      </p:sp>
      <p:sp>
        <p:nvSpPr>
          <p:cNvPr id="33799" name="Line 16"/>
          <p:cNvSpPr>
            <a:spLocks noChangeShapeType="1"/>
          </p:cNvSpPr>
          <p:nvPr/>
        </p:nvSpPr>
        <p:spPr bwMode="auto">
          <a:xfrm flipH="1">
            <a:off x="6248401" y="3276600"/>
            <a:ext cx="15875" cy="2057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0" name="Text Box 17"/>
          <p:cNvSpPr txBox="1">
            <a:spLocks noChangeArrowheads="1"/>
          </p:cNvSpPr>
          <p:nvPr/>
        </p:nvSpPr>
        <p:spPr bwMode="auto">
          <a:xfrm>
            <a:off x="4315113" y="5334001"/>
            <a:ext cx="38602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/>
              <a:t>Shift and distortion invariance or</a:t>
            </a:r>
          </a:p>
          <a:p>
            <a:pPr algn="ctr" eaLnBrk="1" hangingPunct="1"/>
            <a:r>
              <a:rPr lang="en-US" altLang="ko-KR">
                <a:solidFill>
                  <a:srgbClr val="FF0000"/>
                </a:solidFill>
              </a:rPr>
              <a:t>S</a:t>
            </a:r>
            <a:r>
              <a:rPr lang="en-US" altLang="ko-KR"/>
              <a:t>ubsampling layer</a:t>
            </a:r>
          </a:p>
        </p:txBody>
      </p:sp>
      <p:sp>
        <p:nvSpPr>
          <p:cNvPr id="33801" name="Line 18"/>
          <p:cNvSpPr>
            <a:spLocks noChangeShapeType="1"/>
          </p:cNvSpPr>
          <p:nvPr/>
        </p:nvSpPr>
        <p:spPr bwMode="auto">
          <a:xfrm>
            <a:off x="7835900" y="3619500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Line 19"/>
          <p:cNvSpPr>
            <a:spLocks noChangeShapeType="1"/>
          </p:cNvSpPr>
          <p:nvPr/>
        </p:nvSpPr>
        <p:spPr bwMode="auto">
          <a:xfrm flipH="1">
            <a:off x="8839201" y="3505200"/>
            <a:ext cx="15875" cy="1905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Text Box 20"/>
          <p:cNvSpPr txBox="1">
            <a:spLocks noChangeArrowheads="1"/>
          </p:cNvSpPr>
          <p:nvPr/>
        </p:nvSpPr>
        <p:spPr bwMode="auto">
          <a:xfrm>
            <a:off x="7666654" y="3962400"/>
            <a:ext cx="3321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>
                <a:solidFill>
                  <a:srgbClr val="FF0000"/>
                </a:solidFill>
              </a:rPr>
              <a:t>C</a:t>
            </a:r>
            <a:endParaRPr lang="en-US" altLang="ko-KR"/>
          </a:p>
        </p:txBody>
      </p:sp>
      <p:sp>
        <p:nvSpPr>
          <p:cNvPr id="33804" name="Text Box 21"/>
          <p:cNvSpPr txBox="1">
            <a:spLocks noChangeArrowheads="1"/>
          </p:cNvSpPr>
          <p:nvPr/>
        </p:nvSpPr>
        <p:spPr bwMode="auto">
          <a:xfrm>
            <a:off x="8704171" y="5410200"/>
            <a:ext cx="3145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>
                <a:solidFill>
                  <a:srgbClr val="FF0000"/>
                </a:solidFill>
              </a:rPr>
              <a:t>S</a:t>
            </a:r>
            <a:endParaRPr lang="en-US" altLang="ko-KR"/>
          </a:p>
        </p:txBody>
      </p:sp>
      <p:sp>
        <p:nvSpPr>
          <p:cNvPr id="33805" name="Line 22"/>
          <p:cNvSpPr>
            <a:spLocks noChangeShapeType="1"/>
          </p:cNvSpPr>
          <p:nvPr/>
        </p:nvSpPr>
        <p:spPr bwMode="auto">
          <a:xfrm flipH="1" flipV="1">
            <a:off x="4319588" y="1566864"/>
            <a:ext cx="557212" cy="1023937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6" name="Text Box 23"/>
          <p:cNvSpPr txBox="1">
            <a:spLocks noChangeArrowheads="1"/>
          </p:cNvSpPr>
          <p:nvPr/>
        </p:nvSpPr>
        <p:spPr bwMode="auto">
          <a:xfrm>
            <a:off x="3407021" y="1219200"/>
            <a:ext cx="16759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/>
              <a:t>Feature maps</a:t>
            </a:r>
          </a:p>
        </p:txBody>
      </p:sp>
      <p:sp>
        <p:nvSpPr>
          <p:cNvPr id="33807" name="Line 24"/>
          <p:cNvSpPr>
            <a:spLocks noChangeShapeType="1"/>
          </p:cNvSpPr>
          <p:nvPr/>
        </p:nvSpPr>
        <p:spPr bwMode="auto">
          <a:xfrm flipH="1" flipV="1">
            <a:off x="4318001" y="1562100"/>
            <a:ext cx="803275" cy="53975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7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115FD9F1-B485-4746-9BAC-8C9E6686C605}" type="slidenum">
              <a:rPr lang="en-US" altLang="ko-KR" b="0">
                <a:solidFill>
                  <a:schemeClr val="folHlin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</a:rPr>
              <a:pPr/>
              <a:t>3</a:t>
            </a:fld>
            <a:endParaRPr lang="en-US" altLang="ko-KR" b="0">
              <a:solidFill>
                <a:schemeClr val="folHlink"/>
              </a:solidFill>
              <a:latin typeface="Arial Unicode MS" panose="020B0604020202020204" pitchFamily="34" charset="-128"/>
              <a:ea typeface="Arial Unicode MS" panose="020B0604020202020204" pitchFamily="34" charset="-128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566057" y="228600"/>
            <a:ext cx="9568543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dirty="0" smtClean="0"/>
              <a:t>Feature extraction layer or Convolution layer</a:t>
            </a:r>
          </a:p>
        </p:txBody>
      </p:sp>
      <p:pic>
        <p:nvPicPr>
          <p:cNvPr id="34820" name="Picture 56" descr="what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843200"/>
            <a:ext cx="3657600" cy="237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821" name="Group 80"/>
          <p:cNvGrpSpPr>
            <a:grpSpLocks/>
          </p:cNvGrpSpPr>
          <p:nvPr/>
        </p:nvGrpSpPr>
        <p:grpSpPr bwMode="auto">
          <a:xfrm>
            <a:off x="7174218" y="1787525"/>
            <a:ext cx="3444796" cy="4568825"/>
            <a:chOff x="3264" y="672"/>
            <a:chExt cx="2223" cy="3214"/>
          </a:xfrm>
        </p:grpSpPr>
        <p:grpSp>
          <p:nvGrpSpPr>
            <p:cNvPr id="34824" name="Group 71"/>
            <p:cNvGrpSpPr>
              <a:grpSpLocks/>
            </p:cNvGrpSpPr>
            <p:nvPr/>
          </p:nvGrpSpPr>
          <p:grpSpPr bwMode="auto">
            <a:xfrm>
              <a:off x="4800" y="912"/>
              <a:ext cx="576" cy="2974"/>
              <a:chOff x="2634" y="852"/>
              <a:chExt cx="576" cy="2974"/>
            </a:xfrm>
          </p:grpSpPr>
          <p:pic>
            <p:nvPicPr>
              <p:cNvPr id="34832" name="Picture 57"/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4" y="852"/>
                <a:ext cx="576" cy="5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833" name="Picture 58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4" y="1428"/>
                <a:ext cx="576" cy="58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834" name="Picture 59"/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4" y="2658"/>
                <a:ext cx="576" cy="5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835" name="Picture 60"/>
              <p:cNvPicPr>
                <a:picLocks noChangeAspect="1" noChangeArrowheads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4" y="2056"/>
                <a:ext cx="576" cy="5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836" name="Picture 61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4" y="3252"/>
                <a:ext cx="576" cy="57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4825" name="Picture 70" descr="Anf"/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1776"/>
              <a:ext cx="948" cy="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6" name="Line 72"/>
            <p:cNvSpPr>
              <a:spLocks noChangeShapeType="1"/>
            </p:cNvSpPr>
            <p:nvPr/>
          </p:nvSpPr>
          <p:spPr bwMode="auto">
            <a:xfrm flipV="1">
              <a:off x="4176" y="1152"/>
              <a:ext cx="624" cy="1008"/>
            </a:xfrm>
            <a:prstGeom prst="line">
              <a:avLst/>
            </a:prstGeom>
            <a:noFill/>
            <a:ln w="31750" cap="sq">
              <a:solidFill>
                <a:srgbClr val="0066CC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7" name="Line 73"/>
            <p:cNvSpPr>
              <a:spLocks noChangeShapeType="1"/>
            </p:cNvSpPr>
            <p:nvPr/>
          </p:nvSpPr>
          <p:spPr bwMode="auto">
            <a:xfrm flipV="1">
              <a:off x="4176" y="1872"/>
              <a:ext cx="624" cy="336"/>
            </a:xfrm>
            <a:prstGeom prst="line">
              <a:avLst/>
            </a:prstGeom>
            <a:noFill/>
            <a:ln w="31750" cap="sq">
              <a:solidFill>
                <a:srgbClr val="0066CC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8" name="Line 74"/>
            <p:cNvSpPr>
              <a:spLocks noChangeShapeType="1"/>
            </p:cNvSpPr>
            <p:nvPr/>
          </p:nvSpPr>
          <p:spPr bwMode="auto">
            <a:xfrm>
              <a:off x="4176" y="2256"/>
              <a:ext cx="576" cy="144"/>
            </a:xfrm>
            <a:prstGeom prst="line">
              <a:avLst/>
            </a:prstGeom>
            <a:noFill/>
            <a:ln w="31750" cap="sq">
              <a:solidFill>
                <a:srgbClr val="0066CC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9" name="Line 75"/>
            <p:cNvSpPr>
              <a:spLocks noChangeShapeType="1"/>
            </p:cNvSpPr>
            <p:nvPr/>
          </p:nvSpPr>
          <p:spPr bwMode="auto">
            <a:xfrm>
              <a:off x="4176" y="2304"/>
              <a:ext cx="576" cy="672"/>
            </a:xfrm>
            <a:prstGeom prst="line">
              <a:avLst/>
            </a:prstGeom>
            <a:noFill/>
            <a:ln w="31750" cap="sq">
              <a:solidFill>
                <a:srgbClr val="0066CC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0" name="Line 76"/>
            <p:cNvSpPr>
              <a:spLocks noChangeShapeType="1"/>
            </p:cNvSpPr>
            <p:nvPr/>
          </p:nvSpPr>
          <p:spPr bwMode="auto">
            <a:xfrm>
              <a:off x="4176" y="2400"/>
              <a:ext cx="576" cy="1152"/>
            </a:xfrm>
            <a:prstGeom prst="line">
              <a:avLst/>
            </a:prstGeom>
            <a:noFill/>
            <a:ln w="31750" cap="sq">
              <a:solidFill>
                <a:srgbClr val="0066CC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Text Box 77"/>
            <p:cNvSpPr txBox="1">
              <a:spLocks noChangeArrowheads="1"/>
            </p:cNvSpPr>
            <p:nvPr/>
          </p:nvSpPr>
          <p:spPr bwMode="auto">
            <a:xfrm>
              <a:off x="4792" y="672"/>
              <a:ext cx="695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 b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latinLnBrk="1">
                <a:defRPr kumimoji="1" b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latinLnBrk="1">
                <a:defRPr kumimoji="1" b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latinLnBrk="1">
                <a:defRPr kumimoji="1" b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latinLnBrk="1">
                <a:defRPr kumimoji="1" b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>
                  <a:solidFill>
                    <a:srgbClr val="0066CC"/>
                  </a:solidFill>
                </a:rPr>
                <a:t>features</a:t>
              </a:r>
            </a:p>
          </p:txBody>
        </p:sp>
      </p:grpSp>
      <p:pic>
        <p:nvPicPr>
          <p:cNvPr id="34822" name="Picture 7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349501"/>
            <a:ext cx="4572000" cy="10795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3" name="Rectangle 81"/>
          <p:cNvSpPr>
            <a:spLocks noGrp="1" noChangeArrowheads="1"/>
          </p:cNvSpPr>
          <p:nvPr>
            <p:ph type="body" idx="1"/>
          </p:nvPr>
        </p:nvSpPr>
        <p:spPr>
          <a:xfrm>
            <a:off x="838200" y="967608"/>
            <a:ext cx="11506200" cy="4351338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["/>
            </a:pPr>
            <a:r>
              <a:rPr lang="en-US" altLang="ko-KR" b="0" dirty="0" smtClean="0">
                <a:sym typeface="Symbol" panose="05050102010706020507" pitchFamily="18" charset="2"/>
              </a:rPr>
              <a:t>detect the same feature at different positions in the input image.</a:t>
            </a:r>
            <a:endParaRPr lang="en-GB" altLang="ko-KR" b="0" dirty="0" smtClean="0"/>
          </a:p>
          <a:p>
            <a:pPr eaLnBrk="1" hangingPunct="1">
              <a:buFont typeface="Marlett" pitchFamily="2" charset="2"/>
              <a:buNone/>
            </a:pPr>
            <a:endParaRPr lang="en-GB" altLang="ko-KR" b="0" dirty="0" smtClean="0"/>
          </a:p>
        </p:txBody>
      </p:sp>
    </p:spTree>
    <p:extLst>
      <p:ext uri="{BB962C8B-B14F-4D97-AF65-F5344CB8AC3E}">
        <p14:creationId xmlns:p14="http://schemas.microsoft.com/office/powerpoint/2010/main" val="418273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C6D6D51F-729C-4A07-96DF-7AC1400FB356}" type="slidenum">
              <a:rPr lang="en-US" altLang="ko-KR" b="0">
                <a:solidFill>
                  <a:schemeClr val="folHlin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</a:rPr>
              <a:pPr/>
              <a:t>4</a:t>
            </a:fld>
            <a:endParaRPr lang="en-US" altLang="ko-KR" b="0">
              <a:solidFill>
                <a:schemeClr val="folHlink"/>
              </a:solidFill>
              <a:latin typeface="Arial Unicode MS" panose="020B0604020202020204" pitchFamily="34" charset="-128"/>
              <a:ea typeface="Arial Unicode MS" panose="020B0604020202020204" pitchFamily="34" charset="-128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4859338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smtClean="0"/>
              <a:t>Subsampling</a:t>
            </a:r>
            <a:r>
              <a:rPr lang="en-US" altLang="ko-KR" smtClean="0">
                <a:solidFill>
                  <a:schemeClr val="folHlink"/>
                </a:solidFill>
              </a:rPr>
              <a:t>  </a:t>
            </a:r>
            <a:r>
              <a:rPr lang="en-US" altLang="ko-KR" smtClean="0"/>
              <a:t>layer</a:t>
            </a:r>
          </a:p>
        </p:txBody>
      </p:sp>
      <p:grpSp>
        <p:nvGrpSpPr>
          <p:cNvPr id="45060" name="Group 34"/>
          <p:cNvGrpSpPr>
            <a:grpSpLocks/>
          </p:cNvGrpSpPr>
          <p:nvPr/>
        </p:nvGrpSpPr>
        <p:grpSpPr bwMode="auto">
          <a:xfrm>
            <a:off x="2819401" y="3810001"/>
            <a:ext cx="6735763" cy="2181225"/>
            <a:chOff x="336" y="2448"/>
            <a:chExt cx="4243" cy="1374"/>
          </a:xfrm>
        </p:grpSpPr>
        <p:pic>
          <p:nvPicPr>
            <p:cNvPr id="45067" name="Picture 24" descr="2d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2448"/>
              <a:ext cx="1306" cy="1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068" name="Picture 2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" y="3309"/>
              <a:ext cx="463" cy="5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069" name="Picture 3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3494"/>
              <a:ext cx="259" cy="3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070" name="Picture 3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7" y="2942"/>
              <a:ext cx="775" cy="8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071" name="Picture 3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1" y="2464"/>
              <a:ext cx="1242" cy="134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061" name="Group 35"/>
          <p:cNvGrpSpPr>
            <a:grpSpLocks/>
          </p:cNvGrpSpPr>
          <p:nvPr/>
        </p:nvGrpSpPr>
        <p:grpSpPr bwMode="auto">
          <a:xfrm>
            <a:off x="2768600" y="1295400"/>
            <a:ext cx="6680200" cy="2057400"/>
            <a:chOff x="352" y="1008"/>
            <a:chExt cx="4208" cy="1296"/>
          </a:xfrm>
        </p:grpSpPr>
        <p:pic>
          <p:nvPicPr>
            <p:cNvPr id="45062" name="Picture 21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8" y="1392"/>
              <a:ext cx="803" cy="9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063" name="Picture 22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0" y="1775"/>
              <a:ext cx="495" cy="5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064" name="Picture 23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6" y="2035"/>
              <a:ext cx="264" cy="26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065" name="Picture 28" descr="1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" y="1008"/>
              <a:ext cx="1252" cy="12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066" name="Picture 33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7" y="1008"/>
              <a:ext cx="1207" cy="12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0593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filter_z2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1524001"/>
            <a:ext cx="4094163" cy="2728913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>
                <a:latin typeface="+mn-lt"/>
              </a:rPr>
              <a:t>Convolutional neural network</a:t>
            </a:r>
            <a:br>
              <a:rPr lang="en-US" dirty="0" smtClean="0">
                <a:latin typeface="+mn-lt"/>
              </a:rPr>
            </a:br>
            <a:r>
              <a:rPr lang="en-US" dirty="0" smtClean="0">
                <a:latin typeface="+mn-lt"/>
              </a:rPr>
              <a:t>Convolution?</a:t>
            </a:r>
            <a:br>
              <a:rPr lang="en-US" dirty="0" smtClean="0">
                <a:latin typeface="+mn-lt"/>
              </a:rPr>
            </a:br>
            <a:endParaRPr lang="en-US" dirty="0">
              <a:latin typeface="+mn-lt"/>
            </a:endParaRPr>
          </a:p>
        </p:txBody>
      </p:sp>
      <p:sp>
        <p:nvSpPr>
          <p:cNvPr id="22532" name="Content Placeholder 2"/>
          <p:cNvSpPr>
            <a:spLocks noGrp="1"/>
          </p:cNvSpPr>
          <p:nvPr>
            <p:ph idx="1"/>
          </p:nvPr>
        </p:nvSpPr>
        <p:spPr>
          <a:xfrm>
            <a:off x="342270" y="1237174"/>
            <a:ext cx="7772400" cy="5257800"/>
          </a:xfrm>
        </p:spPr>
        <p:txBody>
          <a:bodyPr/>
          <a:lstStyle/>
          <a:p>
            <a:pPr marL="457200" indent="-457200"/>
            <a:r>
              <a:rPr lang="en-US" altLang="en-US" sz="2400" dirty="0"/>
              <a:t>Weighted moving sum</a:t>
            </a:r>
          </a:p>
        </p:txBody>
      </p:sp>
      <p:pic>
        <p:nvPicPr>
          <p:cNvPr id="22533" name="Picture 1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8" y="3581400"/>
            <a:ext cx="4114800" cy="27432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6" y="3581401"/>
            <a:ext cx="777875" cy="77311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ilter_z1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3581400"/>
            <a:ext cx="4113212" cy="277653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8" name="Rectangle 6"/>
          <p:cNvSpPr>
            <a:spLocks noChangeArrowheads="1"/>
          </p:cNvSpPr>
          <p:nvPr/>
        </p:nvSpPr>
        <p:spPr bwMode="auto">
          <a:xfrm>
            <a:off x="3200401" y="6334125"/>
            <a:ext cx="684783" cy="36932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1430" tIns="45715" rIns="91430" bIns="45715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MS PGothic" panose="020B0600070205080204" pitchFamily="34" charset="-128"/>
              </a:rPr>
              <a:t>Input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333509" y="6310313"/>
            <a:ext cx="2381144" cy="36932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1430" tIns="45715" rIns="91430" bIns="45715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Calibri"/>
                <a:ea typeface="MS PGothic" panose="020B0600070205080204" pitchFamily="34" charset="-128"/>
              </a:rPr>
              <a:t>Feature Activation Map</a:t>
            </a:r>
          </a:p>
        </p:txBody>
      </p:sp>
      <p:sp>
        <p:nvSpPr>
          <p:cNvPr id="9" name="Right Arrow 8"/>
          <p:cNvSpPr>
            <a:spLocks noChangeArrowheads="1"/>
          </p:cNvSpPr>
          <p:nvPr/>
        </p:nvSpPr>
        <p:spPr bwMode="auto">
          <a:xfrm>
            <a:off x="5792788" y="4800600"/>
            <a:ext cx="457200" cy="3048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A7CCB"/>
              </a:gs>
              <a:gs pos="20000">
                <a:srgbClr val="3C7BC7"/>
              </a:gs>
              <a:gs pos="100000">
                <a:srgbClr val="2C5D98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  <a:ea typeface="MS PGothic" panose="020B0600070205080204" pitchFamily="34" charset="-128"/>
            </a:endParaRPr>
          </a:p>
        </p:txBody>
      </p:sp>
      <p:pic>
        <p:nvPicPr>
          <p:cNvPr id="13" name="Picture 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6" y="3581401"/>
            <a:ext cx="777875" cy="773113"/>
          </a:xfrm>
          <a:prstGeom prst="rect">
            <a:avLst/>
          </a:prstGeom>
          <a:noFill/>
          <a:ln w="25400">
            <a:solidFill>
              <a:srgbClr val="12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ight Arrow 14"/>
          <p:cNvSpPr>
            <a:spLocks noChangeArrowheads="1"/>
          </p:cNvSpPr>
          <p:nvPr/>
        </p:nvSpPr>
        <p:spPr bwMode="auto">
          <a:xfrm rot="-1977863">
            <a:off x="5842000" y="3617913"/>
            <a:ext cx="457200" cy="322262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3A7CCB"/>
              </a:gs>
              <a:gs pos="20000">
                <a:srgbClr val="3C7BC7"/>
              </a:gs>
              <a:gs pos="100000">
                <a:srgbClr val="2C5D98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  <a:ea typeface="MS PGothic" panose="020B0600070205080204" pitchFamily="34" charset="-128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5943600" y="3733800"/>
            <a:ext cx="204788" cy="923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1800">
                <a:solidFill>
                  <a:prstClr val="black"/>
                </a:solidFill>
                <a:latin typeface="Arial" panose="020B0604020202020204" pitchFamily="34" charset="0"/>
              </a:rPr>
              <a:t>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1792" y="6550224"/>
            <a:ext cx="20762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slide credit: S. </a:t>
            </a:r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Lazebnik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5205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1423E-6 1.75382E-6 C 0.01564 -0.00718 0.09033 -0.00625 0.09675 -0.00648 C 0.14713 -0.01388 0.17058 -0.00926 0.23936 -0.0081 C 0.28314 -0.0044 0.33108 -0.02083 0.37225 -0.00324 C 0.37833 0.0081 0.37711 0.00324 0.37711 0.02475 C 0.37711 0.0826 0.37086 0.07034 0.32378 0.07103 C 0.23242 0.07196 0.14105 0.07219 0.04968 0.07288 C 0.03474 0.07334 0.01963 0.07242 0.00487 0.0745 C -0.00295 0.07543 0.00313 0.09509 0.00365 0.10574 C 0.004 0.11823 -0.00469 0.14229 0.00487 0.14391 C 0.08824 0.15687 0.17266 0.14484 0.25673 0.14553 C 0.29182 0.14599 0.32708 0.14599 0.36234 0.14715 C 0.36721 0.14715 0.37294 0.14484 0.37711 0.14877 C 0.38145 0.1527 0.3785 0.16312 0.37971 0.17029 C 0.37728 0.26353 0.38215 0.23878 0.29773 0.2397 C 0.21626 0.2404 0.1348 0.24063 0.05333 0.24132 C 0.03509 0.24317 0.01598 0.23692 -0.00121 0.24456 C -0.00486 0.24595 -0.00052 0.25451 -3.31423E-6 0.2596 C 0.00296 0.37991 -0.01129 0.30726 0.15998 0.31073 C 0.16155 0.31073 0.16328 0.31166 0.16502 0.31235 C 0.23033 0.31027 0.29547 0.30842 0.36095 0.30749 C 0.36547 0.3068 0.37468 0.30587 0.37468 0.30587 " pathEditMode="relative" ptsTypes="fffffffffffffffffffff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1423E-6 1.75382E-6 C 0.01564 -0.00718 0.09033 -0.00625 0.09675 -0.00648 C 0.14713 -0.01388 0.17058 -0.00926 0.23936 -0.0081 C 0.28314 -0.0044 0.33108 -0.02083 0.37225 -0.00324 C 0.37833 0.0081 0.37711 0.00324 0.37711 0.02475 C 0.37711 0.0826 0.37086 0.07034 0.32378 0.07103 C 0.23242 0.07196 0.14105 0.07219 0.04968 0.07288 C 0.03474 0.07334 0.01963 0.07242 0.00487 0.0745 C -0.00295 0.07543 0.00313 0.09509 0.00365 0.10574 C 0.004 0.11823 -0.00469 0.14229 0.00487 0.14391 C 0.08824 0.15687 0.17266 0.14484 0.25673 0.14553 C 0.29182 0.14599 0.32708 0.14599 0.36234 0.14715 C 0.36721 0.14715 0.37294 0.14484 0.37711 0.14877 C 0.38145 0.1527 0.3785 0.16312 0.37971 0.17029 C 0.37728 0.26353 0.38215 0.23878 0.29773 0.2397 C 0.21626 0.2404 0.1348 0.24063 0.05333 0.24132 C 0.03509 0.24317 0.01598 0.23692 -0.00121 0.24456 C -0.00486 0.24595 -0.00052 0.25451 -3.31423E-6 0.2596 C 0.00296 0.37991 -0.01129 0.30726 0.15998 0.31073 C 0.16155 0.31073 0.16328 0.31166 0.16502 0.31235 C 0.23033 0.31027 0.29547 0.30842 0.36095 0.30749 C 0.36547 0.3068 0.37468 0.30587 0.37468 0.30587 " pathEditMode="relative" ptsTypes="fffffffffffffffffffffA">
                                      <p:cBhvr>
                                        <p:cTn id="2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 animBg="1"/>
      <p:bldP spid="15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Up Arrow 9"/>
          <p:cNvSpPr/>
          <p:nvPr/>
        </p:nvSpPr>
        <p:spPr>
          <a:xfrm>
            <a:off x="3271839" y="4722814"/>
            <a:ext cx="390525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12976" y="6324601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Input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976" y="5124450"/>
            <a:ext cx="2513013" cy="7429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Convolution (Learned)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976" y="4191001"/>
            <a:ext cx="2513013" cy="4921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Non-linearity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0439" y="3241676"/>
            <a:ext cx="2492375" cy="4921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Spatial pooling</a:t>
            </a:r>
          </a:p>
        </p:txBody>
      </p:sp>
      <p:sp>
        <p:nvSpPr>
          <p:cNvPr id="9" name="Up Arrow 8"/>
          <p:cNvSpPr/>
          <p:nvPr/>
        </p:nvSpPr>
        <p:spPr>
          <a:xfrm>
            <a:off x="3267076" y="5915026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3275013" y="3781426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3278188" y="2819401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09801" y="2251076"/>
            <a:ext cx="2513013" cy="49212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Normalization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8686800" cy="8382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</a:rPr>
              <a:t>Convolutional Neural Networks</a:t>
            </a:r>
            <a:endParaRPr lang="en-US" dirty="0">
              <a:latin typeface="+mn-lt"/>
            </a:endParaRPr>
          </a:p>
        </p:txBody>
      </p:sp>
      <p:sp>
        <p:nvSpPr>
          <p:cNvPr id="20" name="Up Arrow 19"/>
          <p:cNvSpPr/>
          <p:nvPr/>
        </p:nvSpPr>
        <p:spPr>
          <a:xfrm>
            <a:off x="3276601" y="18288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09801" y="1260476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Feature maps</a:t>
            </a:r>
          </a:p>
        </p:txBody>
      </p:sp>
      <p:sp>
        <p:nvSpPr>
          <p:cNvPr id="22" name="Up Arrow 21"/>
          <p:cNvSpPr/>
          <p:nvPr/>
        </p:nvSpPr>
        <p:spPr>
          <a:xfrm>
            <a:off x="3276601" y="8382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591792" y="6550224"/>
            <a:ext cx="20762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slide credit: S. </a:t>
            </a:r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Lazebnik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593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Up Arrow 9"/>
          <p:cNvSpPr/>
          <p:nvPr/>
        </p:nvSpPr>
        <p:spPr>
          <a:xfrm>
            <a:off x="3271839" y="4722814"/>
            <a:ext cx="390525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12976" y="6324601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Input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976" y="5124450"/>
            <a:ext cx="2513013" cy="7429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508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Convolution (Learned)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976" y="4191001"/>
            <a:ext cx="2513013" cy="4921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Non-linearity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0439" y="3241676"/>
            <a:ext cx="2492375" cy="4921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Spatial pooling</a:t>
            </a:r>
          </a:p>
        </p:txBody>
      </p:sp>
      <p:sp>
        <p:nvSpPr>
          <p:cNvPr id="9" name="Up Arrow 8"/>
          <p:cNvSpPr/>
          <p:nvPr/>
        </p:nvSpPr>
        <p:spPr>
          <a:xfrm>
            <a:off x="3267076" y="5915026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3275013" y="3781426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3278188" y="2819401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09801" y="2251076"/>
            <a:ext cx="2513013" cy="49212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Normalization</a:t>
            </a:r>
          </a:p>
        </p:txBody>
      </p:sp>
      <p:sp>
        <p:nvSpPr>
          <p:cNvPr id="20" name="Up Arrow 19"/>
          <p:cNvSpPr/>
          <p:nvPr/>
        </p:nvSpPr>
        <p:spPr>
          <a:xfrm>
            <a:off x="3276601" y="18288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09801" y="1260476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Feature maps</a:t>
            </a:r>
          </a:p>
        </p:txBody>
      </p:sp>
      <p:sp>
        <p:nvSpPr>
          <p:cNvPr id="22" name="Up Arrow 21"/>
          <p:cNvSpPr/>
          <p:nvPr/>
        </p:nvSpPr>
        <p:spPr>
          <a:xfrm>
            <a:off x="3276601" y="8382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5181601" y="3276601"/>
            <a:ext cx="5313363" cy="3218885"/>
            <a:chOff x="77788" y="1524001"/>
            <a:chExt cx="8969375" cy="5434311"/>
          </a:xfrm>
        </p:grpSpPr>
        <p:pic>
          <p:nvPicPr>
            <p:cNvPr id="24592" name="Picture 16" descr="filter_z2.png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71" t="7861" r="9666" b="12045"/>
            <a:stretch>
              <a:fillRect/>
            </a:stretch>
          </p:blipFill>
          <p:spPr bwMode="auto">
            <a:xfrm>
              <a:off x="4953000" y="1524001"/>
              <a:ext cx="4094163" cy="272891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593" name="Picture 1"/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88" y="3581400"/>
              <a:ext cx="4114800" cy="274320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594" name="Picture 18" descr="filter_z1.png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12" t="8075" r="9827" b="11832"/>
            <a:stretch>
              <a:fillRect/>
            </a:stretch>
          </p:blipFill>
          <p:spPr bwMode="auto">
            <a:xfrm>
              <a:off x="4802189" y="3581400"/>
              <a:ext cx="4113212" cy="2776538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1677644" y="6334801"/>
              <a:ext cx="1155968" cy="623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1430" tIns="45715" rIns="91430" bIns="45715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  <a:ea typeface="MS PGothic" panose="020B0600070205080204" pitchFamily="34" charset="-128"/>
                </a:rPr>
                <a:t>Input</a:t>
              </a: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5917127" y="6324080"/>
              <a:ext cx="2337621" cy="623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1430" tIns="45715" rIns="91430" bIns="45715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>
                  <a:solidFill>
                    <a:prstClr val="black"/>
                  </a:solidFill>
                  <a:latin typeface="Calibri"/>
                  <a:ea typeface="MS PGothic" panose="020B0600070205080204" pitchFamily="34" charset="-128"/>
                </a:rPr>
                <a:t>Feature Map</a:t>
              </a:r>
            </a:p>
          </p:txBody>
        </p:sp>
        <p:sp>
          <p:nvSpPr>
            <p:cNvPr id="25" name="Right Arrow 24"/>
            <p:cNvSpPr>
              <a:spLocks noChangeArrowheads="1"/>
            </p:cNvSpPr>
            <p:nvPr/>
          </p:nvSpPr>
          <p:spPr bwMode="auto">
            <a:xfrm>
              <a:off x="4269034" y="4801777"/>
              <a:ext cx="458251" cy="302852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lIns="91430" tIns="45715" rIns="91430" bIns="45715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Calibri"/>
                <a:ea typeface="MS PGothic" panose="020B0600070205080204" pitchFamily="34" charset="-128"/>
              </a:endParaRPr>
            </a:p>
          </p:txBody>
        </p:sp>
        <p:sp>
          <p:nvSpPr>
            <p:cNvPr id="26" name="Right Arrow 25"/>
            <p:cNvSpPr>
              <a:spLocks noChangeArrowheads="1"/>
            </p:cNvSpPr>
            <p:nvPr/>
          </p:nvSpPr>
          <p:spPr bwMode="auto">
            <a:xfrm rot="19622137">
              <a:off x="4317271" y="3617168"/>
              <a:ext cx="458251" cy="321613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lIns="91430" tIns="45715" rIns="91430" bIns="45715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Calibri"/>
                <a:ea typeface="MS PGothic" panose="020B0600070205080204" pitchFamily="34" charset="-128"/>
              </a:endParaRPr>
            </a:p>
          </p:txBody>
        </p:sp>
        <p:sp>
          <p:nvSpPr>
            <p:cNvPr id="24599" name="Rectangle 26"/>
            <p:cNvSpPr>
              <a:spLocks noChangeArrowheads="1"/>
            </p:cNvSpPr>
            <p:nvPr/>
          </p:nvSpPr>
          <p:spPr bwMode="auto">
            <a:xfrm>
              <a:off x="4246475" y="3733802"/>
              <a:ext cx="204788" cy="1558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0" tIns="45715" rIns="91430" bIns="45715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en-US" sz="1800">
                  <a:solidFill>
                    <a:prstClr val="black"/>
                  </a:solidFill>
                  <a:latin typeface="Arial" panose="020B0604020202020204" pitchFamily="34" charset="0"/>
                </a:rPr>
                <a:t>...</a:t>
              </a:r>
            </a:p>
          </p:txBody>
        </p:sp>
      </p:grp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8686800" cy="8382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</a:rPr>
              <a:t>Convolutional Neural Networks</a:t>
            </a:r>
            <a:endParaRPr lang="en-US" dirty="0">
              <a:latin typeface="+mn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591792" y="6550224"/>
            <a:ext cx="20762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slide credit: S</a:t>
            </a:r>
            <a:r>
              <a:rPr lang="en-US" sz="140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Lazebnik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9717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Up Arrow 10"/>
          <p:cNvSpPr/>
          <p:nvPr/>
        </p:nvSpPr>
        <p:spPr>
          <a:xfrm>
            <a:off x="3275013" y="3781426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Up Arrow 9"/>
          <p:cNvSpPr/>
          <p:nvPr/>
        </p:nvSpPr>
        <p:spPr>
          <a:xfrm>
            <a:off x="3271839" y="4722814"/>
            <a:ext cx="390525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12976" y="6324601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Input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976" y="5124450"/>
            <a:ext cx="2513013" cy="7429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Convolution (Learned)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976" y="4191001"/>
            <a:ext cx="2513013" cy="4921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08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Non-linearity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0439" y="3241676"/>
            <a:ext cx="2492375" cy="4921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Spatial pooling</a:t>
            </a:r>
          </a:p>
        </p:txBody>
      </p:sp>
      <p:sp>
        <p:nvSpPr>
          <p:cNvPr id="9" name="Up Arrow 8"/>
          <p:cNvSpPr/>
          <p:nvPr/>
        </p:nvSpPr>
        <p:spPr>
          <a:xfrm>
            <a:off x="3267076" y="5915026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3278188" y="2819401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09801" y="2251076"/>
            <a:ext cx="2513013" cy="49212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Normalization</a:t>
            </a:r>
          </a:p>
        </p:txBody>
      </p:sp>
      <p:sp>
        <p:nvSpPr>
          <p:cNvPr id="20" name="Up Arrow 19"/>
          <p:cNvSpPr/>
          <p:nvPr/>
        </p:nvSpPr>
        <p:spPr>
          <a:xfrm>
            <a:off x="3276601" y="18288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09801" y="1260476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Feature maps</a:t>
            </a:r>
          </a:p>
        </p:txBody>
      </p:sp>
      <p:sp>
        <p:nvSpPr>
          <p:cNvPr id="22" name="Up Arrow 21"/>
          <p:cNvSpPr/>
          <p:nvPr/>
        </p:nvSpPr>
        <p:spPr>
          <a:xfrm>
            <a:off x="3276601" y="8382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1" y="2895600"/>
            <a:ext cx="3838575" cy="308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8686800" cy="8382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</a:rPr>
              <a:t>Convolutional Neural Networks</a:t>
            </a:r>
            <a:endParaRPr lang="en-US" dirty="0"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04602" y="2366701"/>
            <a:ext cx="403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Rectified Linear Unit (</a:t>
            </a:r>
            <a:r>
              <a:rPr lang="en-US" sz="2400" dirty="0" err="1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ReLU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1792" y="6550224"/>
            <a:ext cx="20762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slide credit: S</a:t>
            </a:r>
            <a:r>
              <a:rPr lang="en-US" sz="140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Lazebnik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851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3" r="25804"/>
          <a:stretch/>
        </p:blipFill>
        <p:spPr>
          <a:xfrm>
            <a:off x="2623455" y="1053151"/>
            <a:ext cx="6945087" cy="58048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63886" y="3444944"/>
            <a:ext cx="4180114" cy="37119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pt-PT" sz="4000" dirty="0" smtClean="0"/>
              <a:t>Activation functions</a:t>
            </a:r>
            <a:endParaRPr lang="en-US" altLang="pt-PT" sz="4000" dirty="0"/>
          </a:p>
        </p:txBody>
      </p:sp>
    </p:spTree>
    <p:extLst>
      <p:ext uri="{BB962C8B-B14F-4D97-AF65-F5344CB8AC3E}">
        <p14:creationId xmlns:p14="http://schemas.microsoft.com/office/powerpoint/2010/main" val="157244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Up Arrow 13"/>
          <p:cNvSpPr/>
          <p:nvPr/>
        </p:nvSpPr>
        <p:spPr>
          <a:xfrm>
            <a:off x="3278188" y="2819401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Up Arrow 9"/>
          <p:cNvSpPr/>
          <p:nvPr/>
        </p:nvSpPr>
        <p:spPr>
          <a:xfrm>
            <a:off x="3271839" y="4722814"/>
            <a:ext cx="390525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12976" y="6324601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Input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976" y="5124450"/>
            <a:ext cx="2513013" cy="7429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Convolution (Learned)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976" y="4191001"/>
            <a:ext cx="2513013" cy="4921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Non-linearity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0439" y="3241676"/>
            <a:ext cx="2492375" cy="4921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508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Spatial pooling</a:t>
            </a:r>
          </a:p>
        </p:txBody>
      </p:sp>
      <p:sp>
        <p:nvSpPr>
          <p:cNvPr id="9" name="Up Arrow 8"/>
          <p:cNvSpPr/>
          <p:nvPr/>
        </p:nvSpPr>
        <p:spPr>
          <a:xfrm>
            <a:off x="3267076" y="5915026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3275013" y="3781426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09801" y="2251076"/>
            <a:ext cx="2513013" cy="49212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Normalization</a:t>
            </a:r>
          </a:p>
        </p:txBody>
      </p:sp>
      <p:sp>
        <p:nvSpPr>
          <p:cNvPr id="20" name="Up Arrow 19"/>
          <p:cNvSpPr/>
          <p:nvPr/>
        </p:nvSpPr>
        <p:spPr>
          <a:xfrm>
            <a:off x="3276601" y="18288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09801" y="1260476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Feature maps</a:t>
            </a:r>
          </a:p>
        </p:txBody>
      </p:sp>
      <p:sp>
        <p:nvSpPr>
          <p:cNvPr id="22" name="Up Arrow 21"/>
          <p:cNvSpPr/>
          <p:nvPr/>
        </p:nvSpPr>
        <p:spPr>
          <a:xfrm>
            <a:off x="3276601" y="8382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6638" name="Picture 16" descr="norm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324101"/>
            <a:ext cx="35814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5029200" y="2400300"/>
            <a:ext cx="762000" cy="762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10200" y="2400300"/>
            <a:ext cx="762000" cy="762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0" y="2781300"/>
            <a:ext cx="762000" cy="762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10200" y="2781300"/>
            <a:ext cx="762000" cy="762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229600" y="2458115"/>
            <a:ext cx="2590800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lvl="1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prstClr val="black"/>
                </a:solidFill>
                <a:latin typeface="Calibri"/>
                <a:ea typeface="MS PGothic" panose="020B0600070205080204" pitchFamily="34" charset="-128"/>
              </a:rPr>
              <a:t>Max pooling</a:t>
            </a:r>
          </a:p>
        </p:txBody>
      </p:sp>
      <p:pic>
        <p:nvPicPr>
          <p:cNvPr id="35" name="Picture 34" descr="max_pool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1" y="3000376"/>
            <a:ext cx="1909763" cy="12604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8686800" cy="8382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</a:rPr>
              <a:t>Convolutional Neural Networks</a:t>
            </a:r>
            <a:endParaRPr lang="en-US" dirty="0">
              <a:latin typeface="+mn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91792" y="6550224"/>
            <a:ext cx="20762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slide credit: S</a:t>
            </a:r>
            <a:r>
              <a:rPr lang="en-US" sz="140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Lazebnik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45572" y="4990009"/>
            <a:ext cx="58224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Lucida Grande"/>
                <a:ea typeface="MS PGothic" panose="020B0600070205080204" pitchFamily="34" charset="-128"/>
              </a:rPr>
              <a:t>Max-pooling: a non-linear down-sampling</a:t>
            </a:r>
            <a:br>
              <a:rPr lang="en-US" sz="2400" dirty="0">
                <a:solidFill>
                  <a:srgbClr val="000000"/>
                </a:solidFill>
                <a:latin typeface="Lucida Grande"/>
                <a:ea typeface="MS PGothic" panose="020B0600070205080204" pitchFamily="34" charset="-128"/>
              </a:rPr>
            </a:br>
            <a:r>
              <a:rPr lang="en-US" sz="2400" dirty="0">
                <a:solidFill>
                  <a:srgbClr val="000000"/>
                </a:solidFill>
                <a:latin typeface="Lucida Grande"/>
                <a:ea typeface="MS PGothic" panose="020B0600070205080204" pitchFamily="34" charset="-128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Lucida Grande"/>
                <a:ea typeface="MS PGothic" panose="020B0600070205080204" pitchFamily="34" charset="-128"/>
              </a:rPr>
            </a:br>
            <a:r>
              <a:rPr lang="en-US" sz="2400" dirty="0">
                <a:solidFill>
                  <a:srgbClr val="000000"/>
                </a:solidFill>
                <a:latin typeface="Lucida Grande"/>
                <a:ea typeface="MS PGothic" panose="020B0600070205080204" pitchFamily="34" charset="-128"/>
              </a:rPr>
              <a:t>Provide </a:t>
            </a:r>
            <a:r>
              <a:rPr lang="en-US" sz="2400" i="1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translation invariance</a:t>
            </a:r>
          </a:p>
        </p:txBody>
      </p:sp>
      <p:pic>
        <p:nvPicPr>
          <p:cNvPr id="62466" name="Picture 2" descr="http://cs231n.github.io/assets/cnn/pool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525" y="1154608"/>
            <a:ext cx="5638800" cy="445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68" name="Picture 4" descr="http://cs231n.github.io/assets/cnn/maxpool.jpe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620" y="1878012"/>
            <a:ext cx="7496175" cy="35052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39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0" grpId="0" animBg="1"/>
      <p:bldP spid="31" grpId="0" animBg="1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Up Arrow 9"/>
          <p:cNvSpPr/>
          <p:nvPr/>
        </p:nvSpPr>
        <p:spPr>
          <a:xfrm>
            <a:off x="3271839" y="4722814"/>
            <a:ext cx="390525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12976" y="6324601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Input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976" y="5124450"/>
            <a:ext cx="2513013" cy="7429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Convolution (Learned)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976" y="4191001"/>
            <a:ext cx="2513013" cy="4921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Non-linearity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0439" y="3241676"/>
            <a:ext cx="2492375" cy="4921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Spatial pooling</a:t>
            </a:r>
          </a:p>
        </p:txBody>
      </p:sp>
      <p:sp>
        <p:nvSpPr>
          <p:cNvPr id="9" name="Up Arrow 8"/>
          <p:cNvSpPr/>
          <p:nvPr/>
        </p:nvSpPr>
        <p:spPr>
          <a:xfrm>
            <a:off x="3267076" y="5915026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3275013" y="3781426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3278188" y="2819401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09801" y="2251076"/>
            <a:ext cx="2513013" cy="49212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Normalization</a:t>
            </a:r>
          </a:p>
        </p:txBody>
      </p:sp>
      <p:sp>
        <p:nvSpPr>
          <p:cNvPr id="20" name="Up Arrow 19"/>
          <p:cNvSpPr/>
          <p:nvPr/>
        </p:nvSpPr>
        <p:spPr>
          <a:xfrm>
            <a:off x="3276601" y="18288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09801" y="1260476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Feature maps</a:t>
            </a:r>
          </a:p>
        </p:txBody>
      </p:sp>
      <p:sp>
        <p:nvSpPr>
          <p:cNvPr id="22" name="Up Arrow 21"/>
          <p:cNvSpPr/>
          <p:nvPr/>
        </p:nvSpPr>
        <p:spPr>
          <a:xfrm>
            <a:off x="3276601" y="8382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8686800" cy="8382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</a:rPr>
              <a:t>Convolutional Neural Networks</a:t>
            </a:r>
            <a:endParaRPr lang="en-US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91792" y="6550224"/>
            <a:ext cx="20762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slide credit: S</a:t>
            </a:r>
            <a:r>
              <a:rPr lang="en-US" sz="140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Lazebnik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00" y="1828800"/>
            <a:ext cx="7035799" cy="403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99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Up Arrow 9"/>
          <p:cNvSpPr/>
          <p:nvPr/>
        </p:nvSpPr>
        <p:spPr>
          <a:xfrm>
            <a:off x="3271839" y="4722814"/>
            <a:ext cx="390525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12976" y="6324601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Input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976" y="5124450"/>
            <a:ext cx="2513013" cy="7429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Convolution (Learned)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976" y="4191001"/>
            <a:ext cx="2513013" cy="4921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Non-linearity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0439" y="3241676"/>
            <a:ext cx="2492375" cy="4921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Spatial pooling</a:t>
            </a:r>
          </a:p>
        </p:txBody>
      </p:sp>
      <p:sp>
        <p:nvSpPr>
          <p:cNvPr id="9" name="Up Arrow 8"/>
          <p:cNvSpPr/>
          <p:nvPr/>
        </p:nvSpPr>
        <p:spPr>
          <a:xfrm>
            <a:off x="3267076" y="5915026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3275013" y="3781426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3278188" y="2819401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09801" y="2251076"/>
            <a:ext cx="2513013" cy="49212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Normalization</a:t>
            </a:r>
          </a:p>
        </p:txBody>
      </p:sp>
      <p:sp>
        <p:nvSpPr>
          <p:cNvPr id="20" name="Up Arrow 19"/>
          <p:cNvSpPr/>
          <p:nvPr/>
        </p:nvSpPr>
        <p:spPr>
          <a:xfrm>
            <a:off x="3276601" y="18288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09801" y="1260476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571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Feature maps</a:t>
            </a:r>
          </a:p>
        </p:txBody>
      </p:sp>
      <p:sp>
        <p:nvSpPr>
          <p:cNvPr id="22" name="Up Arrow 21"/>
          <p:cNvSpPr/>
          <p:nvPr/>
        </p:nvSpPr>
        <p:spPr>
          <a:xfrm>
            <a:off x="3276601" y="8382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8686800" cy="8382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</a:rPr>
              <a:t>Convolutional Neural Networks</a:t>
            </a:r>
            <a:endParaRPr lang="en-US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91792" y="6550224"/>
            <a:ext cx="20762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slide credit: S</a:t>
            </a:r>
            <a:r>
              <a:rPr lang="en-US" sz="140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Lazebnik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9" name="Picture 2" descr="https://miro.medium.com/v2/resize:fit:875/1*OuxhgVj1WDDfo5UO5GIhgA@2x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16" r="60596"/>
          <a:stretch/>
        </p:blipFill>
        <p:spPr bwMode="auto">
          <a:xfrm>
            <a:off x="6408853" y="838200"/>
            <a:ext cx="3855808" cy="1635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43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Up Arrow 9"/>
          <p:cNvSpPr/>
          <p:nvPr/>
        </p:nvSpPr>
        <p:spPr>
          <a:xfrm>
            <a:off x="3271839" y="4722814"/>
            <a:ext cx="390525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12976" y="6324601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Input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976" y="5124450"/>
            <a:ext cx="2513013" cy="7429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Convolution (Learned)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976" y="4191001"/>
            <a:ext cx="2513013" cy="4921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Non-linearity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0439" y="3241676"/>
            <a:ext cx="2492375" cy="49212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Spatial pooling</a:t>
            </a:r>
          </a:p>
        </p:txBody>
      </p:sp>
      <p:sp>
        <p:nvSpPr>
          <p:cNvPr id="9" name="Up Arrow 8"/>
          <p:cNvSpPr/>
          <p:nvPr/>
        </p:nvSpPr>
        <p:spPr>
          <a:xfrm>
            <a:off x="3267076" y="5915026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3275013" y="3781426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3278188" y="2819401"/>
            <a:ext cx="392112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09801" y="2251076"/>
            <a:ext cx="2513013" cy="49212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Normalization</a:t>
            </a:r>
          </a:p>
        </p:txBody>
      </p:sp>
      <p:sp>
        <p:nvSpPr>
          <p:cNvPr id="20" name="Up Arrow 19"/>
          <p:cNvSpPr/>
          <p:nvPr/>
        </p:nvSpPr>
        <p:spPr>
          <a:xfrm>
            <a:off x="3276601" y="18288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09801" y="1260476"/>
            <a:ext cx="2513013" cy="49212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571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black"/>
                </a:solidFill>
                <a:latin typeface="Calibri"/>
                <a:cs typeface="Myriad Pro"/>
              </a:rPr>
              <a:t>Feature maps</a:t>
            </a:r>
          </a:p>
        </p:txBody>
      </p:sp>
      <p:sp>
        <p:nvSpPr>
          <p:cNvPr id="22" name="Up Arrow 21"/>
          <p:cNvSpPr/>
          <p:nvPr/>
        </p:nvSpPr>
        <p:spPr>
          <a:xfrm>
            <a:off x="3276601" y="838201"/>
            <a:ext cx="392113" cy="409575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8686800" cy="8382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</a:rPr>
              <a:t>Convolutional Neural Networks</a:t>
            </a:r>
            <a:endParaRPr lang="en-US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91792" y="6550224"/>
            <a:ext cx="20762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slide credit: S</a:t>
            </a:r>
            <a:r>
              <a:rPr lang="en-US" sz="140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Lazebnik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915" y="1686026"/>
            <a:ext cx="7108860" cy="401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1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Engineered vs. learned features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063875" y="6183314"/>
            <a:ext cx="2095500" cy="27622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32000C"/>
                </a:solidFill>
                <a:latin typeface="Calibri"/>
              </a:rPr>
              <a:t>Image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063875" y="5611814"/>
            <a:ext cx="2095500" cy="276225"/>
          </a:xfrm>
          <a:prstGeom prst="rect">
            <a:avLst/>
          </a:prstGeom>
          <a:solidFill>
            <a:srgbClr val="FF5B5B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Calibri"/>
              </a:rPr>
              <a:t>Feature extraction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3063875" y="5040314"/>
            <a:ext cx="2095500" cy="276225"/>
          </a:xfrm>
          <a:prstGeom prst="rect">
            <a:avLst/>
          </a:prstGeom>
          <a:solidFill>
            <a:srgbClr val="FF5B5B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Calibri"/>
              </a:rPr>
              <a:t>Pooling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063875" y="4473576"/>
            <a:ext cx="2095500" cy="276225"/>
          </a:xfrm>
          <a:prstGeom prst="rect">
            <a:avLst/>
          </a:prstGeom>
          <a:solidFill>
            <a:srgbClr val="FF5B5B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Calibri"/>
              </a:rPr>
              <a:t>Classifier</a:t>
            </a:r>
          </a:p>
        </p:txBody>
      </p:sp>
      <p:sp>
        <p:nvSpPr>
          <p:cNvPr id="9" name="Down Arrow 8"/>
          <p:cNvSpPr/>
          <p:nvPr/>
        </p:nvSpPr>
        <p:spPr bwMode="auto">
          <a:xfrm rot="10800000">
            <a:off x="3897314" y="5889625"/>
            <a:ext cx="428625" cy="2238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Down Arrow 9"/>
          <p:cNvSpPr/>
          <p:nvPr/>
        </p:nvSpPr>
        <p:spPr bwMode="auto">
          <a:xfrm rot="10800000">
            <a:off x="3897314" y="5360989"/>
            <a:ext cx="428625" cy="2238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Down Arrow 10"/>
          <p:cNvSpPr/>
          <p:nvPr/>
        </p:nvSpPr>
        <p:spPr bwMode="auto">
          <a:xfrm rot="10800000">
            <a:off x="3897314" y="4784725"/>
            <a:ext cx="428625" cy="2238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Down Arrow 11"/>
          <p:cNvSpPr/>
          <p:nvPr/>
        </p:nvSpPr>
        <p:spPr bwMode="auto">
          <a:xfrm rot="10800000">
            <a:off x="3897314" y="4238625"/>
            <a:ext cx="428625" cy="2238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3578467" y="3786188"/>
            <a:ext cx="10663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zh-TW">
                <a:solidFill>
                  <a:prstClr val="black"/>
                </a:solidFill>
                <a:latin typeface="Arial" panose="020B0604020202020204" pitchFamily="34" charset="0"/>
              </a:rPr>
              <a:t>Label</a:t>
            </a:r>
            <a:endParaRPr lang="en-US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7848601" y="981076"/>
            <a:ext cx="2124075" cy="5478463"/>
            <a:chOff x="5480050" y="976313"/>
            <a:chExt cx="2124075" cy="5478462"/>
          </a:xfrm>
        </p:grpSpPr>
        <p:sp>
          <p:nvSpPr>
            <p:cNvPr id="5" name="Rectangle 4"/>
            <p:cNvSpPr/>
            <p:nvPr/>
          </p:nvSpPr>
          <p:spPr bwMode="auto">
            <a:xfrm>
              <a:off x="5497513" y="6178550"/>
              <a:ext cx="2095500" cy="27622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32000C"/>
                  </a:solidFill>
                  <a:latin typeface="Calibri"/>
                </a:rPr>
                <a:t>Image</a:t>
              </a: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5497513" y="5610225"/>
              <a:ext cx="2095500" cy="276225"/>
            </a:xfrm>
            <a:prstGeom prst="rect">
              <a:avLst/>
            </a:prstGeom>
            <a:solidFill>
              <a:srgbClr val="92D050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white"/>
                  </a:solidFill>
                  <a:latin typeface="Calibri"/>
                </a:rPr>
                <a:t>Convolution/pool</a:t>
              </a: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5508625" y="5040312"/>
              <a:ext cx="2095500" cy="276225"/>
            </a:xfrm>
            <a:prstGeom prst="rect">
              <a:avLst/>
            </a:prstGeom>
            <a:solidFill>
              <a:srgbClr val="92D050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white"/>
                  </a:solidFill>
                  <a:latin typeface="Calibri"/>
                </a:rPr>
                <a:t>Convolution/pool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5487988" y="4471987"/>
              <a:ext cx="2095500" cy="276225"/>
            </a:xfrm>
            <a:prstGeom prst="rect">
              <a:avLst/>
            </a:prstGeom>
            <a:solidFill>
              <a:srgbClr val="92D050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white"/>
                  </a:solidFill>
                  <a:latin typeface="Calibri"/>
                </a:rPr>
                <a:t>Convolution/pool</a:t>
              </a: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5497513" y="3902075"/>
              <a:ext cx="2095500" cy="276225"/>
            </a:xfrm>
            <a:prstGeom prst="rect">
              <a:avLst/>
            </a:prstGeom>
            <a:solidFill>
              <a:srgbClr val="92D050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white"/>
                  </a:solidFill>
                  <a:latin typeface="Calibri"/>
                </a:rPr>
                <a:t>Convolution/pool</a:t>
              </a: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5508625" y="3332163"/>
              <a:ext cx="2095500" cy="276225"/>
            </a:xfrm>
            <a:prstGeom prst="rect">
              <a:avLst/>
            </a:prstGeom>
            <a:solidFill>
              <a:srgbClr val="92D050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white"/>
                  </a:solidFill>
                  <a:latin typeface="Calibri"/>
                </a:rPr>
                <a:t>Convolution/pool</a:t>
              </a: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5497513" y="2762251"/>
              <a:ext cx="2095500" cy="276225"/>
            </a:xfrm>
            <a:prstGeom prst="rect">
              <a:avLst/>
            </a:prstGeom>
            <a:solidFill>
              <a:srgbClr val="92D050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white"/>
                  </a:solidFill>
                  <a:latin typeface="Calibri"/>
                </a:rPr>
                <a:t>Dense</a:t>
              </a: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5486400" y="2192338"/>
              <a:ext cx="2095500" cy="276225"/>
            </a:xfrm>
            <a:prstGeom prst="rect">
              <a:avLst/>
            </a:prstGeom>
            <a:solidFill>
              <a:srgbClr val="92D050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white"/>
                  </a:solidFill>
                  <a:latin typeface="Calibri"/>
                </a:rPr>
                <a:t>Dense</a:t>
              </a: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5480050" y="1625601"/>
              <a:ext cx="2095500" cy="276225"/>
            </a:xfrm>
            <a:prstGeom prst="rect">
              <a:avLst/>
            </a:prstGeom>
            <a:solidFill>
              <a:srgbClr val="92D050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white"/>
                  </a:solidFill>
                  <a:latin typeface="Calibri"/>
                </a:rPr>
                <a:t>Dense</a:t>
              </a:r>
            </a:p>
          </p:txBody>
        </p:sp>
        <p:sp>
          <p:nvSpPr>
            <p:cNvPr id="26" name="Down Arrow 25"/>
            <p:cNvSpPr/>
            <p:nvPr/>
          </p:nvSpPr>
          <p:spPr bwMode="auto">
            <a:xfrm rot="10800000">
              <a:off x="6342063" y="5918200"/>
              <a:ext cx="428625" cy="22225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7" name="Down Arrow 26"/>
            <p:cNvSpPr/>
            <p:nvPr/>
          </p:nvSpPr>
          <p:spPr bwMode="auto">
            <a:xfrm rot="10800000">
              <a:off x="6342063" y="5349875"/>
              <a:ext cx="428625" cy="22225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Down Arrow 27"/>
            <p:cNvSpPr/>
            <p:nvPr/>
          </p:nvSpPr>
          <p:spPr bwMode="auto">
            <a:xfrm rot="10800000">
              <a:off x="6342063" y="4781550"/>
              <a:ext cx="428625" cy="22225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Down Arrow 28"/>
            <p:cNvSpPr/>
            <p:nvPr/>
          </p:nvSpPr>
          <p:spPr bwMode="auto">
            <a:xfrm rot="10800000">
              <a:off x="6342063" y="4213225"/>
              <a:ext cx="428625" cy="22225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0" name="Down Arrow 29"/>
            <p:cNvSpPr/>
            <p:nvPr/>
          </p:nvSpPr>
          <p:spPr bwMode="auto">
            <a:xfrm rot="10800000">
              <a:off x="6342063" y="3643313"/>
              <a:ext cx="428625" cy="22225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" name="Down Arrow 30"/>
            <p:cNvSpPr/>
            <p:nvPr/>
          </p:nvSpPr>
          <p:spPr bwMode="auto">
            <a:xfrm rot="10800000">
              <a:off x="6342063" y="3079751"/>
              <a:ext cx="428625" cy="22225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2" name="Down Arrow 31"/>
            <p:cNvSpPr/>
            <p:nvPr/>
          </p:nvSpPr>
          <p:spPr bwMode="auto">
            <a:xfrm rot="10800000">
              <a:off x="6319838" y="2505076"/>
              <a:ext cx="428625" cy="22225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3" name="Down Arrow 32"/>
            <p:cNvSpPr/>
            <p:nvPr/>
          </p:nvSpPr>
          <p:spPr bwMode="auto">
            <a:xfrm rot="10800000">
              <a:off x="6319838" y="1917701"/>
              <a:ext cx="428625" cy="22383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367" name="Rectangle 34"/>
            <p:cNvSpPr>
              <a:spLocks noChangeArrowheads="1"/>
            </p:cNvSpPr>
            <p:nvPr/>
          </p:nvSpPr>
          <p:spPr bwMode="auto">
            <a:xfrm>
              <a:off x="6023116" y="976313"/>
              <a:ext cx="106631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TW">
                  <a:solidFill>
                    <a:prstClr val="black"/>
                  </a:solidFill>
                  <a:latin typeface="Arial" panose="020B0604020202020204" pitchFamily="34" charset="0"/>
                </a:rPr>
                <a:t>Label</a:t>
              </a:r>
              <a:endParaRPr lang="en-US" altLang="en-US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Down Arrow 35"/>
            <p:cNvSpPr/>
            <p:nvPr/>
          </p:nvSpPr>
          <p:spPr bwMode="auto">
            <a:xfrm rot="10800000">
              <a:off x="6342063" y="1389063"/>
              <a:ext cx="428625" cy="22383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35" name="Rectangle 1"/>
          <p:cNvSpPr>
            <a:spLocks noChangeArrowheads="1"/>
          </p:cNvSpPr>
          <p:nvPr/>
        </p:nvSpPr>
        <p:spPr bwMode="auto">
          <a:xfrm>
            <a:off x="97971" y="1366838"/>
            <a:ext cx="6934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Convolutional filters are trained in a supervised manner by back-propagating </a:t>
            </a:r>
            <a:r>
              <a:rPr lang="en-US" altLang="en-US" sz="2400" dirty="0" smtClean="0">
                <a:solidFill>
                  <a:prstClr val="black"/>
                </a:solidFill>
                <a:latin typeface="Arial" panose="020B0604020202020204" pitchFamily="34" charset="0"/>
              </a:rPr>
              <a:t>classification </a:t>
            </a: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</a:rPr>
              <a:t>error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1" y="6590527"/>
            <a:ext cx="702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 err="1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Jia</a:t>
            </a:r>
            <a:r>
              <a:rPr lang="en-US" altLang="en-US" sz="12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-Bin Huang and Derek </a:t>
            </a:r>
            <a:r>
              <a:rPr lang="en-US" altLang="en-US" sz="1200" dirty="0" err="1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Hoiem</a:t>
            </a:r>
            <a:r>
              <a:rPr lang="en-US" altLang="en-US" sz="1200" dirty="0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, UIUC</a:t>
            </a:r>
          </a:p>
        </p:txBody>
      </p:sp>
      <p:pic>
        <p:nvPicPr>
          <p:cNvPr id="37" name="Picture 2" descr="https://miro.medium.com/v2/resize:fit:875/1*OuxhgVj1WDDfo5UO5GIhgA@2x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16" r="60596"/>
          <a:stretch/>
        </p:blipFill>
        <p:spPr bwMode="auto">
          <a:xfrm>
            <a:off x="489180" y="4921985"/>
            <a:ext cx="2431589" cy="103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https://miro.medium.com/v2/resize:fit:875/1*OuxhgVj1WDDfo5UO5GIhgA@2x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2416" r="516"/>
          <a:stretch/>
        </p:blipFill>
        <p:spPr bwMode="auto">
          <a:xfrm>
            <a:off x="380379" y="2542057"/>
            <a:ext cx="6423192" cy="107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29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AlexNet</a:t>
            </a:r>
            <a:r>
              <a:rPr lang="en-US" dirty="0" smtClean="0"/>
              <a:t> 2012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855" y="1334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 strong prior has very low entropy, e.g. a Gaussian with low variance</a:t>
            </a:r>
          </a:p>
          <a:p>
            <a:r>
              <a:rPr lang="en-US" dirty="0" smtClean="0"/>
              <a:t>An infinitely strong prior says that some parameters are forbidden, and places zero probability on them</a:t>
            </a:r>
          </a:p>
          <a:p>
            <a:r>
              <a:rPr lang="en-US" dirty="0" smtClean="0"/>
              <a:t>The convolution ‘prior’ says the identical and zero weights</a:t>
            </a:r>
          </a:p>
          <a:p>
            <a:r>
              <a:rPr lang="en-US" dirty="0" smtClean="0"/>
              <a:t>The pooling forces the invariance of small translations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338" y="1462787"/>
            <a:ext cx="8670375" cy="428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4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 err="1" smtClean="0">
                <a:latin typeface="+mn-lt"/>
              </a:rPr>
              <a:t>AlexNet</a:t>
            </a:r>
            <a:endParaRPr lang="en-US" dirty="0">
              <a:latin typeface="+mn-lt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172958" y="6465458"/>
            <a:ext cx="249504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 [</a:t>
            </a:r>
            <a:r>
              <a:rPr lang="en-US" b="1" dirty="0" err="1"/>
              <a:t>Krizhevsky</a:t>
            </a:r>
            <a:r>
              <a:rPr lang="en-US" b="1" dirty="0"/>
              <a:t> et al</a:t>
            </a:r>
            <a:r>
              <a:rPr lang="en-US" dirty="0"/>
              <a:t>., </a:t>
            </a:r>
            <a:r>
              <a:rPr lang="en-US" b="1" dirty="0"/>
              <a:t>2012</a:t>
            </a:r>
            <a:r>
              <a:rPr lang="en-US" dirty="0"/>
              <a:t>]</a:t>
            </a:r>
          </a:p>
        </p:txBody>
      </p:sp>
      <p:sp>
        <p:nvSpPr>
          <p:cNvPr id="76" name="Content Placeholder 2"/>
          <p:cNvSpPr>
            <a:spLocks noGrp="1"/>
          </p:cNvSpPr>
          <p:nvPr>
            <p:ph idx="1"/>
          </p:nvPr>
        </p:nvSpPr>
        <p:spPr>
          <a:xfrm>
            <a:off x="4985657" y="1371601"/>
            <a:ext cx="6705600" cy="4754563"/>
          </a:xfrm>
        </p:spPr>
        <p:txBody>
          <a:bodyPr>
            <a:noAutofit/>
          </a:bodyPr>
          <a:lstStyle/>
          <a:p>
            <a:r>
              <a:rPr lang="en-US" sz="2600" dirty="0"/>
              <a:t>Input: 227x227x3 images (224x224 before padding)</a:t>
            </a:r>
          </a:p>
          <a:p>
            <a:r>
              <a:rPr lang="en-US" sz="2600" dirty="0"/>
              <a:t>First layer: 96 11x11 filters applied at stride 4</a:t>
            </a:r>
          </a:p>
          <a:p>
            <a:r>
              <a:rPr lang="en-US" sz="2600" b="1" dirty="0" smtClean="0"/>
              <a:t>Output </a:t>
            </a:r>
            <a:r>
              <a:rPr lang="en-US" sz="2600" b="1" dirty="0"/>
              <a:t>volume size? </a:t>
            </a:r>
          </a:p>
          <a:p>
            <a:pPr marL="0" indent="0">
              <a:buNone/>
            </a:pPr>
            <a:r>
              <a:rPr lang="en-US" sz="2600" b="1" dirty="0" smtClean="0"/>
              <a:t>(</a:t>
            </a:r>
            <a:r>
              <a:rPr lang="en-US" sz="2600" b="1" dirty="0"/>
              <a:t>N-F)/s+1 = (227-11)/4+1 = 55 -&gt; [55x55x96]</a:t>
            </a:r>
          </a:p>
          <a:p>
            <a:r>
              <a:rPr lang="en-US" sz="2600" b="1" dirty="0" smtClean="0"/>
              <a:t>Number </a:t>
            </a:r>
            <a:r>
              <a:rPr lang="en-US" sz="2600" b="1" dirty="0"/>
              <a:t>of parameters in this layer? </a:t>
            </a:r>
          </a:p>
          <a:p>
            <a:pPr marL="0" indent="0">
              <a:buNone/>
            </a:pPr>
            <a:r>
              <a:rPr lang="en-US" sz="2600" b="1" dirty="0"/>
              <a:t>	(11*11*3)*96 = 35K</a:t>
            </a:r>
            <a:endParaRPr lang="en-US" sz="2600" dirty="0"/>
          </a:p>
          <a:p>
            <a:pPr lvl="1">
              <a:buFontTx/>
              <a:buChar char="-"/>
            </a:pPr>
            <a:endParaRPr lang="en-US" sz="2600" dirty="0"/>
          </a:p>
          <a:p>
            <a:pPr>
              <a:buFontTx/>
              <a:buChar char="-"/>
            </a:pPr>
            <a:endParaRPr 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1524000" y="6581002"/>
            <a:ext cx="6629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Slide taken from </a:t>
            </a:r>
            <a:r>
              <a:rPr lang="en-US" sz="1200" dirty="0" err="1"/>
              <a:t>Fei-Fei</a:t>
            </a:r>
            <a:r>
              <a:rPr lang="en-US" sz="1200" dirty="0"/>
              <a:t> &amp; Justin Johnson &amp; Serena Yeung. Lecture 9.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27663" r="50400"/>
          <a:stretch/>
        </p:blipFill>
        <p:spPr>
          <a:xfrm>
            <a:off x="73287" y="1371600"/>
            <a:ext cx="4461005" cy="321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1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 err="1" smtClean="0">
                <a:latin typeface="+mn-lt"/>
              </a:rPr>
              <a:t>AlexNet</a:t>
            </a:r>
            <a:endParaRPr lang="en-US" dirty="0">
              <a:latin typeface="+mn-lt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172958" y="6465458"/>
            <a:ext cx="249504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 [</a:t>
            </a:r>
            <a:r>
              <a:rPr lang="en-US" b="1" dirty="0" err="1"/>
              <a:t>Krizhevsky</a:t>
            </a:r>
            <a:r>
              <a:rPr lang="en-US" b="1" dirty="0"/>
              <a:t> et al</a:t>
            </a:r>
            <a:r>
              <a:rPr lang="en-US" dirty="0"/>
              <a:t>., </a:t>
            </a:r>
            <a:r>
              <a:rPr lang="en-US" b="1" dirty="0"/>
              <a:t>2012</a:t>
            </a:r>
            <a:r>
              <a:rPr lang="en-US" dirty="0"/>
              <a:t>]</a:t>
            </a:r>
          </a:p>
        </p:txBody>
      </p:sp>
      <p:sp>
        <p:nvSpPr>
          <p:cNvPr id="76" name="Content Placeholder 2"/>
          <p:cNvSpPr>
            <a:spLocks noGrp="1"/>
          </p:cNvSpPr>
          <p:nvPr>
            <p:ph idx="1"/>
          </p:nvPr>
        </p:nvSpPr>
        <p:spPr>
          <a:xfrm>
            <a:off x="4978924" y="1202705"/>
            <a:ext cx="6781800" cy="4678363"/>
          </a:xfrm>
        </p:spPr>
        <p:txBody>
          <a:bodyPr>
            <a:normAutofit/>
          </a:bodyPr>
          <a:lstStyle/>
          <a:p>
            <a:r>
              <a:rPr lang="en-US" dirty="0"/>
              <a:t>Input: 227x227x3 images (224x224 before padding)</a:t>
            </a:r>
          </a:p>
          <a:p>
            <a:r>
              <a:rPr lang="en-US" dirty="0"/>
              <a:t>After CONV1: 55x55x96</a:t>
            </a:r>
          </a:p>
          <a:p>
            <a:r>
              <a:rPr lang="en-US" dirty="0"/>
              <a:t>Second layer: 3x3 filters applied at stride 2</a:t>
            </a:r>
          </a:p>
          <a:p>
            <a:r>
              <a:rPr lang="en-US" b="1" dirty="0" smtClean="0"/>
              <a:t>Output </a:t>
            </a:r>
            <a:r>
              <a:rPr lang="en-US" b="1" dirty="0"/>
              <a:t>volume size? </a:t>
            </a:r>
          </a:p>
          <a:p>
            <a:pPr marL="0" indent="0">
              <a:buNone/>
            </a:pPr>
            <a:r>
              <a:rPr lang="en-US" b="1" dirty="0" smtClean="0"/>
              <a:t>(</a:t>
            </a:r>
            <a:r>
              <a:rPr lang="en-US" b="1" dirty="0"/>
              <a:t>N-F)/s+1 = (55-3)/2+1 = 27 -&gt; [27x27x96]</a:t>
            </a:r>
          </a:p>
          <a:p>
            <a:r>
              <a:rPr lang="en-US" b="1" dirty="0" smtClean="0"/>
              <a:t>Number </a:t>
            </a:r>
            <a:r>
              <a:rPr lang="en-US" b="1" dirty="0"/>
              <a:t>of parameters in this layer? </a:t>
            </a:r>
          </a:p>
          <a:p>
            <a:pPr marL="0" indent="0">
              <a:buNone/>
            </a:pPr>
            <a:r>
              <a:rPr lang="en-US" b="1" dirty="0"/>
              <a:t>	0!</a:t>
            </a: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pPr lvl="1">
              <a:buFontTx/>
              <a:buChar char="-"/>
            </a:pPr>
            <a:endParaRPr lang="en-US" dirty="0"/>
          </a:p>
          <a:p>
            <a:pPr lvl="1"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1524000" y="6581002"/>
            <a:ext cx="6629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Slide taken from </a:t>
            </a:r>
            <a:r>
              <a:rPr lang="en-US" sz="1200" dirty="0" err="1"/>
              <a:t>Fei-Fei</a:t>
            </a:r>
            <a:r>
              <a:rPr lang="en-US" sz="1200" dirty="0"/>
              <a:t> &amp; Justin Johnson &amp; Serena Yeung. Lecture 9.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27663" r="50400"/>
          <a:stretch/>
        </p:blipFill>
        <p:spPr>
          <a:xfrm>
            <a:off x="73287" y="1371600"/>
            <a:ext cx="4461005" cy="321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9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AlexNet</a:t>
            </a:r>
            <a:r>
              <a:rPr lang="en-US" dirty="0" smtClean="0"/>
              <a:t>: Parameters and </a:t>
            </a:r>
            <a:r>
              <a:rPr lang="en-US" dirty="0" err="1" smtClean="0"/>
              <a:t>Memeory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43" y="1690688"/>
            <a:ext cx="75438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/>
          <p:cNvSpPr txBox="1"/>
          <p:nvPr/>
        </p:nvSpPr>
        <p:spPr>
          <a:xfrm>
            <a:off x="7315200" y="6465458"/>
            <a:ext cx="340548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 [</a:t>
            </a:r>
            <a:r>
              <a:rPr lang="en-US" b="1" dirty="0" err="1"/>
              <a:t>Simonyan</a:t>
            </a:r>
            <a:r>
              <a:rPr lang="en-US" b="1" dirty="0"/>
              <a:t> and Zisserman, 2014]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0" y="6581002"/>
            <a:ext cx="6629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Slide taken from </a:t>
            </a:r>
            <a:r>
              <a:rPr lang="en-US" sz="1200" dirty="0" err="1"/>
              <a:t>Fei-Fei</a:t>
            </a:r>
            <a:r>
              <a:rPr lang="en-US" sz="1200" dirty="0"/>
              <a:t> &amp; Justin Johnson &amp; Serena Yeung. Lecture 9. </a:t>
            </a:r>
          </a:p>
        </p:txBody>
      </p:sp>
      <p:sp>
        <p:nvSpPr>
          <p:cNvPr id="8" name="Rectangle 7"/>
          <p:cNvSpPr/>
          <p:nvPr/>
        </p:nvSpPr>
        <p:spPr>
          <a:xfrm>
            <a:off x="2873829" y="559931"/>
            <a:ext cx="8686800" cy="58477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t"/>
            <a:r>
              <a:rPr lang="en-US" sz="1700" dirty="0"/>
              <a:t>Input		memory:  224*224*3=150K	  </a:t>
            </a:r>
            <a:r>
              <a:rPr lang="en-US" sz="1700" dirty="0" err="1"/>
              <a:t>params</a:t>
            </a:r>
            <a:r>
              <a:rPr lang="en-US" sz="1700" dirty="0"/>
              <a:t>: 0		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64	memory:  224*224*64=3.2M	 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(3*3*3)*64 = 1,728 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64	memory:  224*224*64=3.2M	 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(3*3*64)*64 = 36,864</a:t>
            </a:r>
          </a:p>
          <a:p>
            <a:pPr fontAlgn="t"/>
            <a:r>
              <a:rPr lang="en-US" sz="1700" dirty="0">
                <a:solidFill>
                  <a:srgbClr val="0000FF"/>
                </a:solidFill>
              </a:rPr>
              <a:t>Pool 		memory:  112*112*64=800K	  </a:t>
            </a:r>
            <a:r>
              <a:rPr lang="en-US" sz="1700" dirty="0" err="1">
                <a:solidFill>
                  <a:srgbClr val="0000FF"/>
                </a:solidFill>
              </a:rPr>
              <a:t>params</a:t>
            </a:r>
            <a:r>
              <a:rPr lang="en-US" sz="1700" dirty="0">
                <a:solidFill>
                  <a:srgbClr val="0000FF"/>
                </a:solidFill>
              </a:rPr>
              <a:t>: 0		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128	memory:  112*112*128=1.6M	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(3*3*64)*128 = 73,728 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128	memory:  112*112*128=1.6M	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(3*3*128)*128 = 147,456</a:t>
            </a:r>
          </a:p>
          <a:p>
            <a:pPr fontAlgn="t"/>
            <a:r>
              <a:rPr lang="en-US" sz="1700" dirty="0">
                <a:solidFill>
                  <a:srgbClr val="0000FF"/>
                </a:solidFill>
              </a:rPr>
              <a:t>Pool 		memory:  56*56*128=400K	  </a:t>
            </a:r>
            <a:r>
              <a:rPr lang="en-US" sz="1700" dirty="0" err="1">
                <a:solidFill>
                  <a:srgbClr val="0000FF"/>
                </a:solidFill>
              </a:rPr>
              <a:t>params</a:t>
            </a:r>
            <a:r>
              <a:rPr lang="en-US" sz="1700" dirty="0">
                <a:solidFill>
                  <a:srgbClr val="0000FF"/>
                </a:solidFill>
              </a:rPr>
              <a:t>: 0		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256	memory:  56*56*256=800K 	 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(3*3*128)*256 = 294,912 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256	memory:  56*56*256=800K 	 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(3*3*256)*256 = 589,824 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256	memory:  56*56*256=800K 	 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(3*3*256)*256 = 589,824	</a:t>
            </a:r>
          </a:p>
          <a:p>
            <a:pPr fontAlgn="t"/>
            <a:r>
              <a:rPr lang="en-US" sz="1700" dirty="0">
                <a:solidFill>
                  <a:srgbClr val="0000FF"/>
                </a:solidFill>
              </a:rPr>
              <a:t>Pool 		memory:  28*28*256=200K	  </a:t>
            </a:r>
            <a:r>
              <a:rPr lang="en-US" sz="1700" dirty="0" err="1">
                <a:solidFill>
                  <a:srgbClr val="0000FF"/>
                </a:solidFill>
              </a:rPr>
              <a:t>params</a:t>
            </a:r>
            <a:r>
              <a:rPr lang="en-US" sz="1700" dirty="0">
                <a:solidFill>
                  <a:srgbClr val="0000FF"/>
                </a:solidFill>
              </a:rPr>
              <a:t>: 0		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512	memory:  28*28*512=400K 	 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(3*3*256)*512 = 1,179,648 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512	memory:  28*28*512=400K 	 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(3*3*512)*512 = 2,359,296 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512	memory:  28*28*512=400K	 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(3*3*512)*512 = 2,359,296	</a:t>
            </a:r>
          </a:p>
          <a:p>
            <a:pPr fontAlgn="t"/>
            <a:r>
              <a:rPr lang="en-US" sz="1700" dirty="0">
                <a:solidFill>
                  <a:srgbClr val="0000FF"/>
                </a:solidFill>
              </a:rPr>
              <a:t>Pool		memory:  14*14*512=100K	  </a:t>
            </a:r>
            <a:r>
              <a:rPr lang="en-US" sz="1700" dirty="0" err="1">
                <a:solidFill>
                  <a:srgbClr val="0000FF"/>
                </a:solidFill>
              </a:rPr>
              <a:t>params</a:t>
            </a:r>
            <a:r>
              <a:rPr lang="en-US" sz="1700" dirty="0">
                <a:solidFill>
                  <a:srgbClr val="0000FF"/>
                </a:solidFill>
              </a:rPr>
              <a:t>: 0		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512	memory:  14*14*512=100K 	 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(3*3*512)*512 = 2,359,296 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512	memory:  14*14*512=100K 	 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(3*3*512)*512 = 2,359,296 	</a:t>
            </a:r>
          </a:p>
          <a:p>
            <a:pPr fontAlgn="t"/>
            <a:r>
              <a:rPr lang="en-US" sz="1700" dirty="0">
                <a:solidFill>
                  <a:srgbClr val="FF0000"/>
                </a:solidFill>
              </a:rPr>
              <a:t>3x3 conv, 512	memory:  14*14*512=100K 	  </a:t>
            </a:r>
            <a:r>
              <a:rPr lang="en-US" sz="1700" dirty="0" err="1">
                <a:solidFill>
                  <a:srgbClr val="FF0000"/>
                </a:solidFill>
              </a:rPr>
              <a:t>params</a:t>
            </a:r>
            <a:r>
              <a:rPr lang="en-US" sz="1700" dirty="0">
                <a:solidFill>
                  <a:srgbClr val="FF0000"/>
                </a:solidFill>
              </a:rPr>
              <a:t>: (3*3*512)*512 = 2,359,296	</a:t>
            </a:r>
          </a:p>
          <a:p>
            <a:pPr fontAlgn="t"/>
            <a:r>
              <a:rPr lang="en-US" sz="1700" dirty="0">
                <a:solidFill>
                  <a:srgbClr val="0000FF"/>
                </a:solidFill>
              </a:rPr>
              <a:t>Pool 		memory:  7*7*512=25K  	  </a:t>
            </a:r>
            <a:r>
              <a:rPr lang="en-US" sz="1700" dirty="0" err="1">
                <a:solidFill>
                  <a:srgbClr val="0000FF"/>
                </a:solidFill>
              </a:rPr>
              <a:t>params</a:t>
            </a:r>
            <a:r>
              <a:rPr lang="en-US" sz="1700" dirty="0">
                <a:solidFill>
                  <a:srgbClr val="0000FF"/>
                </a:solidFill>
              </a:rPr>
              <a:t>: 0			</a:t>
            </a:r>
          </a:p>
          <a:p>
            <a:pPr fontAlgn="t"/>
            <a:r>
              <a:rPr lang="en-US" sz="1700" spc="-5" dirty="0">
                <a:solidFill>
                  <a:srgbClr val="E69038"/>
                </a:solidFill>
                <a:cs typeface="Arial"/>
              </a:rPr>
              <a:t>FC 4096		memory:  4096  	</a:t>
            </a:r>
            <a:r>
              <a:rPr lang="en-US" sz="1700" spc="-5" dirty="0" err="1">
                <a:solidFill>
                  <a:srgbClr val="E69038"/>
                </a:solidFill>
                <a:cs typeface="Arial"/>
              </a:rPr>
              <a:t>params</a:t>
            </a:r>
            <a:r>
              <a:rPr lang="en-US" sz="1700" spc="-5" dirty="0">
                <a:solidFill>
                  <a:srgbClr val="E69038"/>
                </a:solidFill>
                <a:cs typeface="Arial"/>
              </a:rPr>
              <a:t>: 7*7*512*4096 = 102,760,448		</a:t>
            </a:r>
          </a:p>
          <a:p>
            <a:pPr fontAlgn="t"/>
            <a:r>
              <a:rPr lang="en-US" sz="1700" spc="-5" dirty="0">
                <a:solidFill>
                  <a:srgbClr val="E69038"/>
                </a:solidFill>
                <a:cs typeface="Arial"/>
              </a:rPr>
              <a:t>FC 4096		memory:  4096  	</a:t>
            </a:r>
            <a:r>
              <a:rPr lang="en-US" sz="1700" spc="-5" dirty="0" err="1">
                <a:solidFill>
                  <a:srgbClr val="E69038"/>
                </a:solidFill>
                <a:cs typeface="Arial"/>
              </a:rPr>
              <a:t>params</a:t>
            </a:r>
            <a:r>
              <a:rPr lang="en-US" sz="1700" spc="-5" dirty="0">
                <a:solidFill>
                  <a:srgbClr val="E69038"/>
                </a:solidFill>
                <a:cs typeface="Arial"/>
              </a:rPr>
              <a:t>: 4096*4096 = 16,777,216		</a:t>
            </a:r>
          </a:p>
          <a:p>
            <a:pPr fontAlgn="t"/>
            <a:r>
              <a:rPr lang="en-US" sz="1700" spc="-5" dirty="0">
                <a:solidFill>
                  <a:srgbClr val="E69038"/>
                </a:solidFill>
                <a:cs typeface="Arial"/>
              </a:rPr>
              <a:t>FC 1000		memory:  1000  	</a:t>
            </a:r>
            <a:r>
              <a:rPr lang="en-US" sz="1700" spc="-5" dirty="0" err="1">
                <a:solidFill>
                  <a:srgbClr val="E69038"/>
                </a:solidFill>
                <a:cs typeface="Arial"/>
              </a:rPr>
              <a:t>params</a:t>
            </a:r>
            <a:r>
              <a:rPr lang="en-US" sz="1700" spc="-5" dirty="0">
                <a:solidFill>
                  <a:srgbClr val="E69038"/>
                </a:solidFill>
                <a:cs typeface="Arial"/>
              </a:rPr>
              <a:t>: 4096*1000 = 4,096,000</a:t>
            </a:r>
            <a:r>
              <a:rPr lang="en-US" sz="1700" dirty="0"/>
              <a:t>		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87691"/>
            <a:ext cx="10515600" cy="1325563"/>
          </a:xfrm>
        </p:spPr>
        <p:txBody>
          <a:bodyPr anchor="t"/>
          <a:lstStyle/>
          <a:p>
            <a:r>
              <a:rPr lang="en-US" dirty="0" err="1" smtClean="0">
                <a:latin typeface="+mn-lt"/>
              </a:rPr>
              <a:t>VGGNet</a:t>
            </a:r>
            <a:endParaRPr lang="en-US" dirty="0"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01" y="1040162"/>
            <a:ext cx="1934888" cy="536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96"/>
          <a:stretch>
            <a:fillRect/>
          </a:stretch>
        </p:blipFill>
        <p:spPr>
          <a:xfrm>
            <a:off x="838200" y="365125"/>
            <a:ext cx="10604334" cy="5460701"/>
          </a:xfrm>
        </p:spPr>
      </p:pic>
    </p:spTree>
    <p:extLst>
      <p:ext uri="{BB962C8B-B14F-4D97-AF65-F5344CB8AC3E}">
        <p14:creationId xmlns:p14="http://schemas.microsoft.com/office/powerpoint/2010/main" val="156526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44"/>
          <a:stretch>
            <a:fillRect/>
          </a:stretch>
        </p:blipFill>
        <p:spPr>
          <a:xfrm>
            <a:off x="838200" y="365124"/>
            <a:ext cx="10515600" cy="5388553"/>
          </a:xfrm>
        </p:spPr>
      </p:pic>
    </p:spTree>
    <p:extLst>
      <p:ext uri="{BB962C8B-B14F-4D97-AF65-F5344CB8AC3E}">
        <p14:creationId xmlns:p14="http://schemas.microsoft.com/office/powerpoint/2010/main" val="209191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29"/>
          <a:stretch>
            <a:fillRect/>
          </a:stretch>
        </p:blipFill>
        <p:spPr>
          <a:xfrm>
            <a:off x="838200" y="365124"/>
            <a:ext cx="10515600" cy="5448535"/>
          </a:xfrm>
        </p:spPr>
      </p:pic>
    </p:spTree>
    <p:extLst>
      <p:ext uri="{BB962C8B-B14F-4D97-AF65-F5344CB8AC3E}">
        <p14:creationId xmlns:p14="http://schemas.microsoft.com/office/powerpoint/2010/main" val="368502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" name="Content Placeholder 28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60"/>
          <a:stretch>
            <a:fillRect/>
          </a:stretch>
        </p:blipFill>
        <p:spPr>
          <a:xfrm>
            <a:off x="838200" y="365125"/>
            <a:ext cx="11027871" cy="5631414"/>
          </a:xfrm>
        </p:spPr>
      </p:pic>
    </p:spTree>
    <p:extLst>
      <p:ext uri="{BB962C8B-B14F-4D97-AF65-F5344CB8AC3E}">
        <p14:creationId xmlns:p14="http://schemas.microsoft.com/office/powerpoint/2010/main" val="16225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915026"/>
          </a:xfrm>
        </p:spPr>
      </p:pic>
      <p:sp>
        <p:nvSpPr>
          <p:cNvPr id="3" name="Rounded Rectangle 2"/>
          <p:cNvSpPr/>
          <p:nvPr/>
        </p:nvSpPr>
        <p:spPr>
          <a:xfrm>
            <a:off x="8749363" y="5134745"/>
            <a:ext cx="2800952" cy="11454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2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25" y="365125"/>
            <a:ext cx="10515600" cy="5915026"/>
          </a:xfrm>
        </p:spPr>
      </p:pic>
      <p:sp>
        <p:nvSpPr>
          <p:cNvPr id="5" name="Rounded Rectangle 4"/>
          <p:cNvSpPr/>
          <p:nvPr/>
        </p:nvSpPr>
        <p:spPr>
          <a:xfrm>
            <a:off x="8874493" y="5370897"/>
            <a:ext cx="2800952" cy="11454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8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915026"/>
          </a:xfrm>
        </p:spPr>
      </p:pic>
      <p:sp>
        <p:nvSpPr>
          <p:cNvPr id="5" name="Rounded Rectangle 4"/>
          <p:cNvSpPr/>
          <p:nvPr/>
        </p:nvSpPr>
        <p:spPr>
          <a:xfrm>
            <a:off x="9009246" y="5712594"/>
            <a:ext cx="2800952" cy="11454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915026"/>
          </a:xfrm>
        </p:spPr>
      </p:pic>
      <p:sp>
        <p:nvSpPr>
          <p:cNvPr id="5" name="Rounded Rectangle 4"/>
          <p:cNvSpPr/>
          <p:nvPr/>
        </p:nvSpPr>
        <p:spPr>
          <a:xfrm>
            <a:off x="8816741" y="5293895"/>
            <a:ext cx="2800952" cy="11454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1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915026"/>
          </a:xfrm>
        </p:spPr>
      </p:pic>
      <p:sp>
        <p:nvSpPr>
          <p:cNvPr id="5" name="Rounded Rectangle 4"/>
          <p:cNvSpPr/>
          <p:nvPr/>
        </p:nvSpPr>
        <p:spPr>
          <a:xfrm>
            <a:off x="8768614" y="5399772"/>
            <a:ext cx="2800952" cy="11454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7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915026"/>
          </a:xfrm>
        </p:spPr>
      </p:pic>
      <p:sp>
        <p:nvSpPr>
          <p:cNvPr id="5" name="Rounded Rectangle 4"/>
          <p:cNvSpPr/>
          <p:nvPr/>
        </p:nvSpPr>
        <p:spPr>
          <a:xfrm>
            <a:off x="9105498" y="5428648"/>
            <a:ext cx="2800952" cy="11454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4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915026"/>
          </a:xfrm>
        </p:spPr>
      </p:pic>
      <p:sp>
        <p:nvSpPr>
          <p:cNvPr id="5" name="Rounded Rectangle 4"/>
          <p:cNvSpPr/>
          <p:nvPr/>
        </p:nvSpPr>
        <p:spPr>
          <a:xfrm>
            <a:off x="8893743" y="5515276"/>
            <a:ext cx="2800952" cy="11454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6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915026"/>
          </a:xfrm>
        </p:spPr>
      </p:pic>
      <p:sp>
        <p:nvSpPr>
          <p:cNvPr id="5" name="Rounded Rectangle 4"/>
          <p:cNvSpPr/>
          <p:nvPr/>
        </p:nvSpPr>
        <p:spPr>
          <a:xfrm>
            <a:off x="8893743" y="5515276"/>
            <a:ext cx="2800952" cy="11454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5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915026"/>
          </a:xfrm>
        </p:spPr>
      </p:pic>
      <p:sp>
        <p:nvSpPr>
          <p:cNvPr id="4" name="Rounded Rectangle 3"/>
          <p:cNvSpPr/>
          <p:nvPr/>
        </p:nvSpPr>
        <p:spPr>
          <a:xfrm>
            <a:off x="8893743" y="5515276"/>
            <a:ext cx="2800952" cy="11454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915026"/>
          </a:xfrm>
        </p:spPr>
      </p:pic>
      <p:sp>
        <p:nvSpPr>
          <p:cNvPr id="5" name="Rounded Rectangle 4"/>
          <p:cNvSpPr/>
          <p:nvPr/>
        </p:nvSpPr>
        <p:spPr>
          <a:xfrm>
            <a:off x="8893743" y="5563401"/>
            <a:ext cx="2800952" cy="11454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2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915026"/>
          </a:xfrm>
        </p:spPr>
      </p:pic>
      <p:sp>
        <p:nvSpPr>
          <p:cNvPr id="5" name="Rounded Rectangle 4"/>
          <p:cNvSpPr/>
          <p:nvPr/>
        </p:nvSpPr>
        <p:spPr>
          <a:xfrm>
            <a:off x="8893743" y="5515276"/>
            <a:ext cx="2800952" cy="11454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3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09462" cy="553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7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643386" cy="573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2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594269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747310" y="1303455"/>
            <a:ext cx="4119612" cy="49506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751" y="1072515"/>
            <a:ext cx="4773179" cy="568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9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visualizati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9057"/>
          <a:stretch/>
        </p:blipFill>
        <p:spPr bwMode="auto">
          <a:xfrm>
            <a:off x="368300" y="0"/>
            <a:ext cx="11125200" cy="683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26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visualizati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57" b="15730"/>
          <a:stretch/>
        </p:blipFill>
        <p:spPr bwMode="auto">
          <a:xfrm>
            <a:off x="3328855" y="749300"/>
            <a:ext cx="8863145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visualizati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" t="3730" r="74772" b="58143"/>
          <a:stretch/>
        </p:blipFill>
        <p:spPr bwMode="auto">
          <a:xfrm>
            <a:off x="165100" y="495300"/>
            <a:ext cx="2628900" cy="636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126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visualizati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65" b="2739"/>
          <a:stretch/>
        </p:blipFill>
        <p:spPr bwMode="auto">
          <a:xfrm>
            <a:off x="3328855" y="495300"/>
            <a:ext cx="8863145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visualizati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" t="3730" r="74772" b="58143"/>
          <a:stretch/>
        </p:blipFill>
        <p:spPr bwMode="auto">
          <a:xfrm>
            <a:off x="165100" y="495300"/>
            <a:ext cx="2628900" cy="636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92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2836</TotalTime>
  <Words>479</Words>
  <Application>Microsoft Office PowerPoint</Application>
  <PresentationFormat>Widescreen</PresentationFormat>
  <Paragraphs>168</Paragraphs>
  <Slides>40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Arial Unicode MS</vt:lpstr>
      <vt:lpstr>맑은 고딕</vt:lpstr>
      <vt:lpstr>MS PGothic</vt:lpstr>
      <vt:lpstr>Arial</vt:lpstr>
      <vt:lpstr>Calibri</vt:lpstr>
      <vt:lpstr>Calibri Light</vt:lpstr>
      <vt:lpstr>굴림</vt:lpstr>
      <vt:lpstr>Lucida Grande</vt:lpstr>
      <vt:lpstr>Marlett</vt:lpstr>
      <vt:lpstr>Myriad Pro</vt:lpstr>
      <vt:lpstr>Symbol</vt:lpstr>
      <vt:lpstr>Wingdings</vt:lpstr>
      <vt:lpstr>Office Theme</vt:lpstr>
      <vt:lpstr>Convolutional neural networks and  Long Short-Term Memory</vt:lpstr>
      <vt:lpstr>CNN’s Topology</vt:lpstr>
      <vt:lpstr>Feature extraction layer or Convolution layer</vt:lpstr>
      <vt:lpstr>Subsampling  layer</vt:lpstr>
      <vt:lpstr>Convolutional neural network Convolution? </vt:lpstr>
      <vt:lpstr>Convolutional Neural Networks</vt:lpstr>
      <vt:lpstr>Convolutional Neural Networks</vt:lpstr>
      <vt:lpstr>Convolutional Neural Networks</vt:lpstr>
      <vt:lpstr>PowerPoint Presentation</vt:lpstr>
      <vt:lpstr>Convolutional Neural Networks</vt:lpstr>
      <vt:lpstr>Convolutional Neural Networks</vt:lpstr>
      <vt:lpstr>Convolutional Neural Networks</vt:lpstr>
      <vt:lpstr>Convolutional Neural Networks</vt:lpstr>
      <vt:lpstr>Engineered vs. learned features</vt:lpstr>
      <vt:lpstr>AlexNet 2012</vt:lpstr>
      <vt:lpstr>AlexNet</vt:lpstr>
      <vt:lpstr>AlexNet</vt:lpstr>
      <vt:lpstr>AlexNet: Parameters and Memeory</vt:lpstr>
      <vt:lpstr>VGGNet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 DSC-706</dc:title>
  <dc:creator>Microsoft account</dc:creator>
  <cp:lastModifiedBy>shahid ismail</cp:lastModifiedBy>
  <cp:revision>119</cp:revision>
  <dcterms:created xsi:type="dcterms:W3CDTF">2023-10-17T00:49:37Z</dcterms:created>
  <dcterms:modified xsi:type="dcterms:W3CDTF">2025-04-23T06:15:27Z</dcterms:modified>
</cp:coreProperties>
</file>